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41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presentation reviews a customer churn prediction project based on cleaned and clustered customer datasets. The study tests whether artificial neural networks can identify customers at risk of leaving. Alongside the ANN, logistic regression and random forest establish useful comparison points. The analysis uses independent testing and highlights a central operational challenge: identifying departures while avoiding costly retention outreach campaigns.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objective is to estimate churn risk from twelve customer indicators, including service choices, charges and contract characteristics. We examine 6,741 customers and use cluster indicators to enrich the predictors. The supervised ANN is compared with logistic regression and random forest. The intended output is a customer risk score that supports earlier, more targeted retention decisions in practice at scale.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methodology separates 4,313 training records, 1,079 validation records and 1,349 held out test records. These correspond approximately to sixty four, sixteen and twenty percent of the data. Fresh scaling and clustering use the training partition only. Three models are fitted, with validation precision recall AUC selecting the candidate and validation F2 determining the classification threshold without inspecting test scores.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neural network combines twelve original predictors with four newly fitted customer segment flags. Early stopping ends training after twenty one epochs from a maximum allowance of forty five. Learning curves track loss and performance during training and validation. The ANN narrowly leads validation precision recall AUC and is therefore selected before examining independent test results or adjusting test outcomes.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table reports held out test performance for every classifier. Logistic regression leads test ROC AUC and precision recall AUC, while the ANN remains close. Recall exceeds ninety percent for all models after validation threshold tuning. However, precision stays below fifty percent and F1 remains modest. The selected ANN reflects validation results, not retrospective test selection, for unbiased comparisons overall.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confusion matrix explains the business implications of the selected neural network. It finds 329 actual churners, misses 29, and wrongly flags 494 retained customers. Consequently, high recall improves potential customer coverage but increases retention campaign costs. Logistic regression has somewhat better test ranking performance. Deployment therefore requires calibrated outreach economics and further upstream data preparation checks under real conditions.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repository is the source of the encoded customer records and published cluster information. The project outputs provide measured performance, confusion matrices and training records. Keras documents early stopping and saved models, while scikit learn describes sampling and performance evaluation. These sources distinguish observed project results from technical methods and help users reproduce or scrutinise the analysis throughout the report.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6F3ED"/>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3ED"/>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2D908A"/>
          </a:solidFill>
          <a:ln w="12700">
            <a:solidFill>
              <a:srgbClr val="2D908A">
                <a:alpha val="0"/>
              </a:srgbClr>
            </a:solidFill>
            <a:prstDash val="solid"/>
          </a:ln>
        </p:spPr>
        <p:txBody>
          <a:bodyPr/>
          <a:lstStyle/>
          <a:p>
            <a:endParaRPr lang="en-AU"/>
          </a:p>
        </p:txBody>
      </p:sp>
      <p:sp>
        <p:nvSpPr>
          <p:cNvPr id="3" name="Shape 1"/>
          <p:cNvSpPr/>
          <p:nvPr/>
        </p:nvSpPr>
        <p:spPr>
          <a:xfrm>
            <a:off x="7351776" y="530352"/>
            <a:ext cx="4187952" cy="5687568"/>
          </a:xfrm>
          <a:prstGeom prst="roundRect">
            <a:avLst>
              <a:gd name="adj" fmla="val 5459"/>
            </a:avLst>
          </a:prstGeom>
          <a:solidFill>
            <a:srgbClr val="EBF2EE"/>
          </a:solidFill>
          <a:ln w="12700">
            <a:solidFill>
              <a:srgbClr val="EBF2EE">
                <a:alpha val="0"/>
              </a:srgbClr>
            </a:solidFill>
            <a:prstDash val="solid"/>
          </a:ln>
        </p:spPr>
        <p:txBody>
          <a:bodyPr/>
          <a:lstStyle/>
          <a:p>
            <a:endParaRPr lang="en-AU"/>
          </a:p>
        </p:txBody>
      </p:sp>
      <p:pic>
        <p:nvPicPr>
          <p:cNvPr id="4" name="Image 0" descr="/mnt/data/Churn_ANN_Presentation/assets/hero_risk.png"/>
          <p:cNvPicPr>
            <a:picLocks noChangeAspect="1"/>
          </p:cNvPicPr>
          <p:nvPr/>
        </p:nvPicPr>
        <p:blipFill>
          <a:blip r:embed="rId3"/>
          <a:stretch>
            <a:fillRect/>
          </a:stretch>
        </p:blipFill>
        <p:spPr>
          <a:xfrm>
            <a:off x="7196328" y="813816"/>
            <a:ext cx="4498848" cy="4636008"/>
          </a:xfrm>
          <a:prstGeom prst="rect">
            <a:avLst/>
          </a:prstGeom>
        </p:spPr>
      </p:pic>
      <p:sp>
        <p:nvSpPr>
          <p:cNvPr id="5" name="Shape 2"/>
          <p:cNvSpPr/>
          <p:nvPr/>
        </p:nvSpPr>
        <p:spPr>
          <a:xfrm>
            <a:off x="841248" y="786384"/>
            <a:ext cx="3429000" cy="310896"/>
          </a:xfrm>
          <a:prstGeom prst="roundRect">
            <a:avLst>
              <a:gd name="adj" fmla="val 38235"/>
            </a:avLst>
          </a:prstGeom>
          <a:solidFill>
            <a:srgbClr val="E9F0EC"/>
          </a:solidFill>
          <a:ln w="12700">
            <a:solidFill>
              <a:srgbClr val="E9F0EC">
                <a:alpha val="0"/>
              </a:srgbClr>
            </a:solidFill>
            <a:prstDash val="solid"/>
          </a:ln>
        </p:spPr>
        <p:txBody>
          <a:bodyPr/>
          <a:lstStyle/>
          <a:p>
            <a:endParaRPr lang="en-AU"/>
          </a:p>
        </p:txBody>
      </p:sp>
      <p:sp>
        <p:nvSpPr>
          <p:cNvPr id="6" name="Text 3"/>
          <p:cNvSpPr/>
          <p:nvPr/>
        </p:nvSpPr>
        <p:spPr>
          <a:xfrm>
            <a:off x="932688" y="827532"/>
            <a:ext cx="3246120" cy="228600"/>
          </a:xfrm>
          <a:prstGeom prst="rect">
            <a:avLst/>
          </a:prstGeom>
          <a:noFill/>
          <a:ln/>
        </p:spPr>
        <p:txBody>
          <a:bodyPr wrap="square" lIns="0" tIns="0" rIns="0" bIns="0" rtlCol="0" anchor="ctr">
            <a:normAutofit/>
          </a:bodyPr>
          <a:lstStyle/>
          <a:p>
            <a:pPr marL="0" indent="0">
              <a:buNone/>
            </a:pPr>
            <a:r>
              <a:rPr lang="en-US" sz="1040" b="1" kern="0" spc="70" dirty="0">
                <a:solidFill>
                  <a:srgbClr val="2D908A"/>
                </a:solidFill>
                <a:latin typeface="Arial" pitchFamily="34" charset="0"/>
                <a:ea typeface="Arial" pitchFamily="34" charset="-122"/>
                <a:cs typeface="Arial" pitchFamily="34" charset="-120"/>
              </a:rPr>
              <a:t>STAGE 2  /  RESULTS PRESENTATION</a:t>
            </a:r>
            <a:endParaRPr lang="en-US" sz="1040" dirty="0"/>
          </a:p>
        </p:txBody>
      </p:sp>
      <p:sp>
        <p:nvSpPr>
          <p:cNvPr id="7" name="Text 4"/>
          <p:cNvSpPr/>
          <p:nvPr/>
        </p:nvSpPr>
        <p:spPr>
          <a:xfrm>
            <a:off x="822960" y="1472184"/>
            <a:ext cx="6419088" cy="704088"/>
          </a:xfrm>
          <a:prstGeom prst="rect">
            <a:avLst/>
          </a:prstGeom>
          <a:noFill/>
          <a:ln/>
        </p:spPr>
        <p:txBody>
          <a:bodyPr wrap="square" lIns="0" tIns="0" rIns="0" bIns="0" rtlCol="0" anchor="ctr">
            <a:normAutofit/>
          </a:bodyPr>
          <a:lstStyle/>
          <a:p>
            <a:pPr marL="0" indent="0">
              <a:buNone/>
            </a:pPr>
            <a:r>
              <a:rPr lang="en-US" sz="3900" b="1" dirty="0">
                <a:solidFill>
                  <a:srgbClr val="203746"/>
                </a:solidFill>
                <a:latin typeface="Arial" pitchFamily="34" charset="0"/>
                <a:ea typeface="Arial" pitchFamily="34" charset="-122"/>
                <a:cs typeface="Arial" pitchFamily="34" charset="-120"/>
              </a:rPr>
              <a:t>Predicting</a:t>
            </a:r>
            <a:endParaRPr lang="en-US" sz="3900" dirty="0"/>
          </a:p>
        </p:txBody>
      </p:sp>
      <p:sp>
        <p:nvSpPr>
          <p:cNvPr id="8" name="Text 5"/>
          <p:cNvSpPr/>
          <p:nvPr/>
        </p:nvSpPr>
        <p:spPr>
          <a:xfrm>
            <a:off x="822960" y="2148840"/>
            <a:ext cx="6400800" cy="676656"/>
          </a:xfrm>
          <a:prstGeom prst="rect">
            <a:avLst/>
          </a:prstGeom>
          <a:noFill/>
          <a:ln/>
        </p:spPr>
        <p:txBody>
          <a:bodyPr wrap="square" lIns="0" tIns="0" rIns="0" bIns="0" rtlCol="0" anchor="ctr">
            <a:normAutofit/>
          </a:bodyPr>
          <a:lstStyle/>
          <a:p>
            <a:pPr marL="0" indent="0">
              <a:buNone/>
            </a:pPr>
            <a:r>
              <a:rPr lang="en-US" sz="3900" b="1" dirty="0">
                <a:solidFill>
                  <a:srgbClr val="203746"/>
                </a:solidFill>
                <a:latin typeface="Arial" pitchFamily="34" charset="0"/>
                <a:ea typeface="Arial" pitchFamily="34" charset="-122"/>
                <a:cs typeface="Arial" pitchFamily="34" charset="-120"/>
              </a:rPr>
              <a:t>Customer Churn</a:t>
            </a:r>
            <a:endParaRPr lang="en-US" sz="3900" dirty="0"/>
          </a:p>
        </p:txBody>
      </p:sp>
      <p:sp>
        <p:nvSpPr>
          <p:cNvPr id="9" name="Text 6"/>
          <p:cNvSpPr/>
          <p:nvPr/>
        </p:nvSpPr>
        <p:spPr>
          <a:xfrm>
            <a:off x="850392" y="2953512"/>
            <a:ext cx="6217920" cy="493776"/>
          </a:xfrm>
          <a:prstGeom prst="rect">
            <a:avLst/>
          </a:prstGeom>
          <a:noFill/>
          <a:ln/>
        </p:spPr>
        <p:txBody>
          <a:bodyPr wrap="square" lIns="0" tIns="0" rIns="0" bIns="0" rtlCol="0" anchor="ctr">
            <a:normAutofit/>
          </a:bodyPr>
          <a:lstStyle/>
          <a:p>
            <a:pPr marL="0" indent="0">
              <a:buNone/>
            </a:pPr>
            <a:r>
              <a:rPr lang="en-US" sz="2400" b="1" dirty="0">
                <a:solidFill>
                  <a:srgbClr val="2D908A"/>
                </a:solidFill>
                <a:latin typeface="Arial" pitchFamily="34" charset="0"/>
                <a:ea typeface="Arial" pitchFamily="34" charset="-122"/>
                <a:cs typeface="Arial" pitchFamily="34" charset="-120"/>
              </a:rPr>
              <a:t>with Artificial Neural Networks</a:t>
            </a:r>
            <a:endParaRPr lang="en-US" sz="2400" dirty="0"/>
          </a:p>
        </p:txBody>
      </p:sp>
      <p:sp>
        <p:nvSpPr>
          <p:cNvPr id="10" name="Text 7"/>
          <p:cNvSpPr/>
          <p:nvPr/>
        </p:nvSpPr>
        <p:spPr>
          <a:xfrm>
            <a:off x="850392" y="3730752"/>
            <a:ext cx="6016752" cy="585216"/>
          </a:xfrm>
          <a:prstGeom prst="rect">
            <a:avLst/>
          </a:prstGeom>
          <a:noFill/>
          <a:ln/>
        </p:spPr>
        <p:txBody>
          <a:bodyPr wrap="square" lIns="0" tIns="0" rIns="0" bIns="0" rtlCol="0" anchor="ctr">
            <a:normAutofit/>
          </a:bodyPr>
          <a:lstStyle/>
          <a:p>
            <a:pPr marL="0" indent="0">
              <a:buNone/>
            </a:pPr>
            <a:r>
              <a:rPr lang="en-US" sz="1650" dirty="0">
                <a:solidFill>
                  <a:srgbClr val="61767D"/>
                </a:solidFill>
                <a:latin typeface="Arial" pitchFamily="34" charset="0"/>
                <a:ea typeface="Arial" pitchFamily="34" charset="-122"/>
                <a:cs typeface="Arial" pitchFamily="34" charset="-120"/>
              </a:rPr>
              <a:t>Data preparation  ·  clustering  ·  model comparison  ·  business decisions</a:t>
            </a:r>
            <a:endParaRPr lang="en-US" sz="1650" dirty="0"/>
          </a:p>
        </p:txBody>
      </p:sp>
      <p:sp>
        <p:nvSpPr>
          <p:cNvPr id="11" name="Shape 8"/>
          <p:cNvSpPr/>
          <p:nvPr/>
        </p:nvSpPr>
        <p:spPr>
          <a:xfrm>
            <a:off x="850392" y="4645152"/>
            <a:ext cx="5971032" cy="16459"/>
          </a:xfrm>
          <a:prstGeom prst="rect">
            <a:avLst/>
          </a:prstGeom>
          <a:solidFill>
            <a:srgbClr val="CBD7D3"/>
          </a:solidFill>
          <a:ln w="12700">
            <a:solidFill>
              <a:srgbClr val="CBD7D3">
                <a:alpha val="0"/>
              </a:srgbClr>
            </a:solidFill>
            <a:prstDash val="solid"/>
          </a:ln>
        </p:spPr>
        <p:txBody>
          <a:bodyPr/>
          <a:lstStyle/>
          <a:p>
            <a:endParaRPr lang="en-AU"/>
          </a:p>
        </p:txBody>
      </p:sp>
      <p:sp>
        <p:nvSpPr>
          <p:cNvPr id="12" name="Text 9"/>
          <p:cNvSpPr/>
          <p:nvPr/>
        </p:nvSpPr>
        <p:spPr>
          <a:xfrm>
            <a:off x="859536" y="5047488"/>
            <a:ext cx="1920240" cy="429768"/>
          </a:xfrm>
          <a:prstGeom prst="rect">
            <a:avLst/>
          </a:prstGeom>
          <a:noFill/>
          <a:ln/>
        </p:spPr>
        <p:txBody>
          <a:bodyPr wrap="square" lIns="0" tIns="0" rIns="0" bIns="0" rtlCol="0" anchor="ctr">
            <a:normAutofit/>
          </a:bodyPr>
          <a:lstStyle/>
          <a:p>
            <a:pPr marL="0" indent="0">
              <a:buNone/>
            </a:pPr>
            <a:r>
              <a:rPr lang="en-US" sz="2600" b="1" dirty="0">
                <a:solidFill>
                  <a:srgbClr val="203746"/>
                </a:solidFill>
                <a:latin typeface="Arial" pitchFamily="34" charset="0"/>
                <a:ea typeface="Arial" pitchFamily="34" charset="-122"/>
                <a:cs typeface="Arial" pitchFamily="34" charset="-120"/>
              </a:rPr>
              <a:t>6,741</a:t>
            </a:r>
            <a:endParaRPr lang="en-US" sz="2600" dirty="0"/>
          </a:p>
        </p:txBody>
      </p:sp>
      <p:sp>
        <p:nvSpPr>
          <p:cNvPr id="13" name="Text 10"/>
          <p:cNvSpPr/>
          <p:nvPr/>
        </p:nvSpPr>
        <p:spPr>
          <a:xfrm>
            <a:off x="859536" y="5532120"/>
            <a:ext cx="1938528" cy="274320"/>
          </a:xfrm>
          <a:prstGeom prst="rect">
            <a:avLst/>
          </a:prstGeom>
          <a:noFill/>
          <a:ln/>
        </p:spPr>
        <p:txBody>
          <a:bodyPr wrap="square" lIns="0" tIns="0" rIns="0" bIns="0" rtlCol="0" anchor="ctr">
            <a:normAutofit/>
          </a:bodyPr>
          <a:lstStyle/>
          <a:p>
            <a:pPr marL="0" indent="0">
              <a:buNone/>
            </a:pPr>
            <a:r>
              <a:rPr lang="en-US" sz="1100" b="1" kern="0" spc="80" dirty="0">
                <a:solidFill>
                  <a:srgbClr val="61767D"/>
                </a:solidFill>
                <a:latin typeface="Arial" pitchFamily="34" charset="0"/>
                <a:ea typeface="Arial" pitchFamily="34" charset="-122"/>
                <a:cs typeface="Arial" pitchFamily="34" charset="-120"/>
              </a:rPr>
              <a:t>CUSTOMERS</a:t>
            </a:r>
            <a:endParaRPr lang="en-US" sz="1100" dirty="0"/>
          </a:p>
        </p:txBody>
      </p:sp>
      <p:sp>
        <p:nvSpPr>
          <p:cNvPr id="14" name="Text 11"/>
          <p:cNvSpPr/>
          <p:nvPr/>
        </p:nvSpPr>
        <p:spPr>
          <a:xfrm>
            <a:off x="2880360" y="5047488"/>
            <a:ext cx="1920240" cy="429768"/>
          </a:xfrm>
          <a:prstGeom prst="rect">
            <a:avLst/>
          </a:prstGeom>
          <a:noFill/>
          <a:ln/>
        </p:spPr>
        <p:txBody>
          <a:bodyPr wrap="square" lIns="0" tIns="0" rIns="0" bIns="0" rtlCol="0" anchor="ctr">
            <a:normAutofit/>
          </a:bodyPr>
          <a:lstStyle/>
          <a:p>
            <a:pPr marL="0" indent="0">
              <a:buNone/>
            </a:pPr>
            <a:r>
              <a:rPr lang="en-US" sz="2600" b="1" dirty="0">
                <a:solidFill>
                  <a:srgbClr val="203746"/>
                </a:solidFill>
                <a:latin typeface="Arial" pitchFamily="34" charset="0"/>
                <a:ea typeface="Arial" pitchFamily="34" charset="-122"/>
                <a:cs typeface="Arial" pitchFamily="34" charset="-120"/>
              </a:rPr>
              <a:t>03</a:t>
            </a:r>
            <a:endParaRPr lang="en-US" sz="2600" dirty="0"/>
          </a:p>
        </p:txBody>
      </p:sp>
      <p:sp>
        <p:nvSpPr>
          <p:cNvPr id="15" name="Text 12"/>
          <p:cNvSpPr/>
          <p:nvPr/>
        </p:nvSpPr>
        <p:spPr>
          <a:xfrm>
            <a:off x="2880360" y="5532120"/>
            <a:ext cx="1938528" cy="274320"/>
          </a:xfrm>
          <a:prstGeom prst="rect">
            <a:avLst/>
          </a:prstGeom>
          <a:noFill/>
          <a:ln/>
        </p:spPr>
        <p:txBody>
          <a:bodyPr wrap="square" lIns="0" tIns="0" rIns="0" bIns="0" rtlCol="0" anchor="ctr">
            <a:normAutofit/>
          </a:bodyPr>
          <a:lstStyle/>
          <a:p>
            <a:pPr marL="0" indent="0">
              <a:buNone/>
            </a:pPr>
            <a:r>
              <a:rPr lang="en-US" sz="1100" b="1" kern="0" spc="80" dirty="0">
                <a:solidFill>
                  <a:srgbClr val="61767D"/>
                </a:solidFill>
                <a:latin typeface="Arial" pitchFamily="34" charset="0"/>
                <a:ea typeface="Arial" pitchFamily="34" charset="-122"/>
                <a:cs typeface="Arial" pitchFamily="34" charset="-120"/>
              </a:rPr>
              <a:t>MODELS</a:t>
            </a:r>
            <a:endParaRPr lang="en-US" sz="1100" dirty="0"/>
          </a:p>
        </p:txBody>
      </p:sp>
      <p:sp>
        <p:nvSpPr>
          <p:cNvPr id="16" name="Text 13"/>
          <p:cNvSpPr/>
          <p:nvPr/>
        </p:nvSpPr>
        <p:spPr>
          <a:xfrm>
            <a:off x="4901184" y="5047488"/>
            <a:ext cx="1920240" cy="429768"/>
          </a:xfrm>
          <a:prstGeom prst="rect">
            <a:avLst/>
          </a:prstGeom>
          <a:noFill/>
          <a:ln/>
        </p:spPr>
        <p:txBody>
          <a:bodyPr wrap="square" lIns="0" tIns="0" rIns="0" bIns="0" rtlCol="0" anchor="ctr">
            <a:normAutofit/>
          </a:bodyPr>
          <a:lstStyle/>
          <a:p>
            <a:pPr marL="0" indent="0">
              <a:buNone/>
            </a:pPr>
            <a:r>
              <a:rPr lang="en-US" sz="2600" b="1" dirty="0">
                <a:solidFill>
                  <a:srgbClr val="203746"/>
                </a:solidFill>
                <a:latin typeface="Arial" pitchFamily="34" charset="0"/>
                <a:ea typeface="Arial" pitchFamily="34" charset="-122"/>
                <a:cs typeface="Arial" pitchFamily="34" charset="-120"/>
              </a:rPr>
              <a:t>1,349</a:t>
            </a:r>
            <a:endParaRPr lang="en-US" sz="2600" dirty="0"/>
          </a:p>
        </p:txBody>
      </p:sp>
      <p:sp>
        <p:nvSpPr>
          <p:cNvPr id="17" name="Text 14"/>
          <p:cNvSpPr/>
          <p:nvPr/>
        </p:nvSpPr>
        <p:spPr>
          <a:xfrm>
            <a:off x="4901184" y="5532120"/>
            <a:ext cx="1938528" cy="274320"/>
          </a:xfrm>
          <a:prstGeom prst="rect">
            <a:avLst/>
          </a:prstGeom>
          <a:noFill/>
          <a:ln/>
        </p:spPr>
        <p:txBody>
          <a:bodyPr wrap="square" lIns="0" tIns="0" rIns="0" bIns="0" rtlCol="0" anchor="ctr">
            <a:normAutofit/>
          </a:bodyPr>
          <a:lstStyle/>
          <a:p>
            <a:pPr marL="0" indent="0">
              <a:buNone/>
            </a:pPr>
            <a:r>
              <a:rPr lang="en-US" sz="1100" b="1" kern="0" spc="80" dirty="0">
                <a:solidFill>
                  <a:srgbClr val="61767D"/>
                </a:solidFill>
                <a:latin typeface="Arial" pitchFamily="34" charset="0"/>
                <a:ea typeface="Arial" pitchFamily="34" charset="-122"/>
                <a:cs typeface="Arial" pitchFamily="34" charset="-120"/>
              </a:rPr>
              <a:t>TEST RECORDS</a:t>
            </a:r>
            <a:endParaRPr lang="en-US" sz="1100" dirty="0"/>
          </a:p>
        </p:txBody>
      </p:sp>
      <p:sp>
        <p:nvSpPr>
          <p:cNvPr id="18" name="Text 15"/>
          <p:cNvSpPr/>
          <p:nvPr/>
        </p:nvSpPr>
        <p:spPr>
          <a:xfrm>
            <a:off x="850392" y="6291072"/>
            <a:ext cx="7315200" cy="228600"/>
          </a:xfrm>
          <a:prstGeom prst="rect">
            <a:avLst/>
          </a:prstGeom>
          <a:noFill/>
          <a:ln/>
        </p:spPr>
        <p:txBody>
          <a:bodyPr wrap="square" lIns="0" tIns="0" rIns="0" bIns="0" rtlCol="0" anchor="ctr">
            <a:normAutofit/>
          </a:bodyPr>
          <a:lstStyle/>
          <a:p>
            <a:pPr marL="0" indent="0">
              <a:buNone/>
            </a:pPr>
            <a:r>
              <a:rPr lang="en-US" sz="1100" dirty="0">
                <a:solidFill>
                  <a:srgbClr val="61767D"/>
                </a:solidFill>
                <a:latin typeface="Arial" pitchFamily="34" charset="0"/>
                <a:ea typeface="Arial" pitchFamily="34" charset="-122"/>
                <a:cs typeface="Arial" pitchFamily="34" charset="-120"/>
              </a:rPr>
              <a:t>Sateesh Stage_3_Deliverables · 25 October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
          </a:xfrm>
          <a:prstGeom prst="rect">
            <a:avLst/>
          </a:prstGeom>
          <a:solidFill>
            <a:srgbClr val="2C9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30936" y="411480"/>
            <a:ext cx="6675120" cy="265176"/>
          </a:xfrm>
          <a:prstGeom prst="rect">
            <a:avLst/>
          </a:prstGeom>
          <a:noFill/>
        </p:spPr>
        <p:txBody>
          <a:bodyPr wrap="square" lIns="0" tIns="0" rIns="0" bIns="0">
            <a:spAutoFit/>
          </a:bodyPr>
          <a:lstStyle/>
          <a:p>
            <a:pPr algn="l">
              <a:spcBef>
                <a:spcPts val="0"/>
              </a:spcBef>
              <a:spcAft>
                <a:spcPts val="0"/>
              </a:spcAft>
            </a:pPr>
            <a:r>
              <a:rPr sz="1090" b="1" i="0">
                <a:solidFill>
                  <a:srgbClr val="216F6B"/>
                </a:solidFill>
                <a:latin typeface="Aptos"/>
              </a:rPr>
              <a:t>PROJECT FRAMING</a:t>
            </a:r>
          </a:p>
        </p:txBody>
      </p:sp>
      <p:sp>
        <p:nvSpPr>
          <p:cNvPr id="5" name="TextBox 4"/>
          <p:cNvSpPr txBox="1"/>
          <p:nvPr/>
        </p:nvSpPr>
        <p:spPr>
          <a:xfrm>
            <a:off x="621792" y="786384"/>
            <a:ext cx="10881360" cy="539496"/>
          </a:xfrm>
          <a:prstGeom prst="rect">
            <a:avLst/>
          </a:prstGeom>
          <a:noFill/>
        </p:spPr>
        <p:txBody>
          <a:bodyPr wrap="square" lIns="0" tIns="0" rIns="0" bIns="0">
            <a:spAutoFit/>
          </a:bodyPr>
          <a:lstStyle/>
          <a:p>
            <a:pPr algn="l">
              <a:spcBef>
                <a:spcPts val="0"/>
              </a:spcBef>
              <a:spcAft>
                <a:spcPts val="0"/>
              </a:spcAft>
            </a:pPr>
            <a:r>
              <a:rPr sz="2730" b="1" i="0">
                <a:solidFill>
                  <a:srgbClr val="233B4B"/>
                </a:solidFill>
                <a:latin typeface="Aptos"/>
              </a:rPr>
              <a:t>Objective and approach</a:t>
            </a:r>
          </a:p>
        </p:txBody>
      </p:sp>
      <p:sp>
        <p:nvSpPr>
          <p:cNvPr id="6" name="Rectangle 5"/>
          <p:cNvSpPr/>
          <p:nvPr/>
        </p:nvSpPr>
        <p:spPr>
          <a:xfrm>
            <a:off x="640080" y="1453896"/>
            <a:ext cx="10917936" cy="12801"/>
          </a:xfrm>
          <a:prstGeom prst="rect">
            <a:avLst/>
          </a:prstGeom>
          <a:solidFill>
            <a:srgbClr val="D7DF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22376" y="1618488"/>
            <a:ext cx="5715000" cy="338328"/>
          </a:xfrm>
          <a:prstGeom prst="rect">
            <a:avLst/>
          </a:prstGeom>
          <a:noFill/>
        </p:spPr>
        <p:txBody>
          <a:bodyPr wrap="square" lIns="0" tIns="0" rIns="0" bIns="0">
            <a:spAutoFit/>
          </a:bodyPr>
          <a:lstStyle/>
          <a:p>
            <a:pPr algn="l">
              <a:spcBef>
                <a:spcPts val="0"/>
              </a:spcBef>
              <a:spcAft>
                <a:spcPts val="0"/>
              </a:spcAft>
            </a:pPr>
            <a:r>
              <a:rPr sz="1230" b="1" i="0">
                <a:solidFill>
                  <a:srgbClr val="216F6B"/>
                </a:solidFill>
                <a:latin typeface="Aptos"/>
              </a:rPr>
              <a:t>STUDY OBJECTIVE AND MODEL DESIGN</a:t>
            </a:r>
          </a:p>
        </p:txBody>
      </p:sp>
      <p:sp>
        <p:nvSpPr>
          <p:cNvPr id="8" name="Rectangle 7"/>
          <p:cNvSpPr/>
          <p:nvPr/>
        </p:nvSpPr>
        <p:spPr>
          <a:xfrm>
            <a:off x="640080" y="6462064"/>
            <a:ext cx="10881360" cy="8229"/>
          </a:xfrm>
          <a:prstGeom prst="rect">
            <a:avLst/>
          </a:prstGeom>
          <a:solidFill>
            <a:srgbClr val="D7DF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6537960"/>
            <a:ext cx="10332720" cy="164592"/>
          </a:xfrm>
          <a:prstGeom prst="rect">
            <a:avLst/>
          </a:prstGeom>
          <a:noFill/>
        </p:spPr>
        <p:txBody>
          <a:bodyPr wrap="square" lIns="0" tIns="0" rIns="0" bIns="0">
            <a:spAutoFit/>
          </a:bodyPr>
          <a:lstStyle/>
          <a:p>
            <a:pPr algn="l">
              <a:spcBef>
                <a:spcPts val="0"/>
              </a:spcBef>
              <a:spcAft>
                <a:spcPts val="0"/>
              </a:spcAft>
            </a:pPr>
            <a:r>
              <a:rPr sz="900" b="0" i="0">
                <a:solidFill>
                  <a:srgbClr val="536975"/>
                </a:solidFill>
                <a:latin typeface="Aptos"/>
              </a:rPr>
              <a:t>Sources: Goreja (n.d.); Customer Churn ANN Project (2026).</a:t>
            </a:r>
          </a:p>
        </p:txBody>
      </p:sp>
      <p:sp>
        <p:nvSpPr>
          <p:cNvPr id="10" name="TextBox 9"/>
          <p:cNvSpPr txBox="1"/>
          <p:nvPr/>
        </p:nvSpPr>
        <p:spPr>
          <a:xfrm>
            <a:off x="11155680" y="6528816"/>
            <a:ext cx="338328" cy="182880"/>
          </a:xfrm>
          <a:prstGeom prst="rect">
            <a:avLst/>
          </a:prstGeom>
          <a:noFill/>
        </p:spPr>
        <p:txBody>
          <a:bodyPr wrap="square" lIns="0" tIns="0" rIns="0" bIns="0">
            <a:spAutoFit/>
          </a:bodyPr>
          <a:lstStyle/>
          <a:p>
            <a:pPr algn="r">
              <a:spcBef>
                <a:spcPts val="0"/>
              </a:spcBef>
              <a:spcAft>
                <a:spcPts val="0"/>
              </a:spcAft>
            </a:pPr>
            <a:r>
              <a:rPr sz="1010" b="1" i="0">
                <a:solidFill>
                  <a:srgbClr val="216F6B"/>
                </a:solidFill>
                <a:latin typeface="Aptos"/>
              </a:rPr>
              <a:t>02</a:t>
            </a:r>
          </a:p>
        </p:txBody>
      </p:sp>
      <p:sp>
        <p:nvSpPr>
          <p:cNvPr id="11" name="TextBox 10"/>
          <p:cNvSpPr txBox="1"/>
          <p:nvPr/>
        </p:nvSpPr>
        <p:spPr>
          <a:xfrm>
            <a:off x="731520" y="2057400"/>
            <a:ext cx="5779008" cy="3895344"/>
          </a:xfrm>
          <a:prstGeom prst="rect">
            <a:avLst/>
          </a:prstGeom>
          <a:noFill/>
        </p:spPr>
        <p:txBody>
          <a:bodyPr wrap="square" lIns="18288" tIns="0" rIns="18288" bIns="0">
            <a:spAutoFit/>
          </a:bodyPr>
          <a:lstStyle/>
          <a:p>
            <a:pPr>
              <a:lnSpc>
                <a:spcPct val="103000"/>
              </a:lnSpc>
              <a:spcBef>
                <a:spcPts val="0"/>
              </a:spcBef>
              <a:spcAft>
                <a:spcPts val="1600"/>
              </a:spcAft>
            </a:pPr>
            <a:r>
              <a:rPr sz="1680">
                <a:solidFill>
                  <a:srgbClr val="233B4B"/>
                </a:solidFill>
                <a:latin typeface="Aptos"/>
              </a:rPr>
              <a:t>•  Predict churn using 12 encoded customer indicators.</a:t>
            </a:r>
          </a:p>
          <a:p>
            <a:pPr>
              <a:lnSpc>
                <a:spcPct val="103000"/>
              </a:lnSpc>
              <a:spcBef>
                <a:spcPts val="0"/>
              </a:spcBef>
              <a:spcAft>
                <a:spcPts val="1600"/>
              </a:spcAft>
            </a:pPr>
            <a:r>
              <a:rPr sz="1680">
                <a:solidFill>
                  <a:srgbClr val="233B4B"/>
                </a:solidFill>
                <a:latin typeface="Aptos"/>
              </a:rPr>
              <a:t>•  Distinguish churned (1) from retained (0) customers.</a:t>
            </a:r>
          </a:p>
          <a:p>
            <a:pPr>
              <a:lnSpc>
                <a:spcPct val="103000"/>
              </a:lnSpc>
              <a:spcBef>
                <a:spcPts val="0"/>
              </a:spcBef>
              <a:spcAft>
                <a:spcPts val="1600"/>
              </a:spcAft>
            </a:pPr>
            <a:r>
              <a:rPr sz="1680">
                <a:solidFill>
                  <a:srgbClr val="233B4B"/>
                </a:solidFill>
                <a:latin typeface="Aptos"/>
              </a:rPr>
              <a:t>•  Analyse all 6,741 records in the supplied dataset.</a:t>
            </a:r>
          </a:p>
          <a:p>
            <a:pPr>
              <a:lnSpc>
                <a:spcPct val="103000"/>
              </a:lnSpc>
              <a:spcBef>
                <a:spcPts val="0"/>
              </a:spcBef>
              <a:spcAft>
                <a:spcPts val="1600"/>
              </a:spcAft>
            </a:pPr>
            <a:r>
              <a:rPr sz="1680">
                <a:solidFill>
                  <a:srgbClr val="233B4B"/>
                </a:solidFill>
                <a:latin typeface="Aptos"/>
              </a:rPr>
              <a:t>•  Estimate individual churn probabilities with an ANN.</a:t>
            </a:r>
          </a:p>
          <a:p>
            <a:pPr>
              <a:lnSpc>
                <a:spcPct val="103000"/>
              </a:lnSpc>
              <a:spcBef>
                <a:spcPts val="0"/>
              </a:spcBef>
              <a:spcAft>
                <a:spcPts val="1600"/>
              </a:spcAft>
            </a:pPr>
            <a:r>
              <a:rPr sz="1680">
                <a:solidFill>
                  <a:srgbClr val="233B4B"/>
                </a:solidFill>
                <a:latin typeface="Aptos"/>
              </a:rPr>
              <a:t>•  Add four train-fitted cluster indicators as features.</a:t>
            </a:r>
          </a:p>
          <a:p>
            <a:pPr>
              <a:lnSpc>
                <a:spcPct val="103000"/>
              </a:lnSpc>
              <a:spcBef>
                <a:spcPts val="0"/>
              </a:spcBef>
              <a:spcAft>
                <a:spcPts val="1600"/>
              </a:spcAft>
            </a:pPr>
            <a:r>
              <a:rPr sz="1680">
                <a:solidFill>
                  <a:srgbClr val="233B4B"/>
                </a:solidFill>
                <a:latin typeface="Aptos"/>
              </a:rPr>
              <a:t>•  Compare ANN, logistic regression and random forest.</a:t>
            </a:r>
          </a:p>
          <a:p>
            <a:pPr>
              <a:lnSpc>
                <a:spcPct val="103000"/>
              </a:lnSpc>
              <a:spcBef>
                <a:spcPts val="0"/>
              </a:spcBef>
              <a:spcAft>
                <a:spcPts val="0"/>
              </a:spcAft>
            </a:pPr>
            <a:r>
              <a:rPr sz="1680">
                <a:solidFill>
                  <a:srgbClr val="233B4B"/>
                </a:solidFill>
                <a:latin typeface="Aptos"/>
              </a:rPr>
              <a:t>•  Prioritise early warnings while assessing alert costs.</a:t>
            </a:r>
          </a:p>
        </p:txBody>
      </p:sp>
      <p:sp>
        <p:nvSpPr>
          <p:cNvPr id="12" name="Rounded Rectangle 11"/>
          <p:cNvSpPr/>
          <p:nvPr/>
        </p:nvSpPr>
        <p:spPr>
          <a:xfrm>
            <a:off x="6684264" y="1691640"/>
            <a:ext cx="4791456" cy="4462272"/>
          </a:xfrm>
          <a:prstGeom prst="roundRect">
            <a:avLst>
              <a:gd name="adj" fmla="val 12000"/>
            </a:avLst>
          </a:prstGeom>
          <a:solidFill>
            <a:srgbClr val="EF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976872" y="1883664"/>
            <a:ext cx="4096512" cy="274320"/>
          </a:xfrm>
          <a:prstGeom prst="rect">
            <a:avLst/>
          </a:prstGeom>
          <a:noFill/>
        </p:spPr>
        <p:txBody>
          <a:bodyPr wrap="square" lIns="0" tIns="0" rIns="0" bIns="0">
            <a:spAutoFit/>
          </a:bodyPr>
          <a:lstStyle/>
          <a:p>
            <a:pPr algn="l">
              <a:spcBef>
                <a:spcPts val="0"/>
              </a:spcBef>
              <a:spcAft>
                <a:spcPts val="0"/>
              </a:spcAft>
            </a:pPr>
            <a:r>
              <a:rPr sz="1220" b="1" i="0">
                <a:solidFill>
                  <a:srgbClr val="216F6B"/>
                </a:solidFill>
                <a:latin typeface="Aptos"/>
              </a:rPr>
              <a:t>FROM CUSTOMER DATA TO ACTION</a:t>
            </a:r>
          </a:p>
        </p:txBody>
      </p:sp>
      <p:sp>
        <p:nvSpPr>
          <p:cNvPr id="14" name="Rounded Rectangle 13"/>
          <p:cNvSpPr/>
          <p:nvPr/>
        </p:nvSpPr>
        <p:spPr>
          <a:xfrm>
            <a:off x="7022592" y="2313432"/>
            <a:ext cx="4151376" cy="55778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205472" y="2450592"/>
            <a:ext cx="3794760" cy="274320"/>
          </a:xfrm>
          <a:prstGeom prst="rect">
            <a:avLst/>
          </a:prstGeom>
          <a:noFill/>
        </p:spPr>
        <p:txBody>
          <a:bodyPr wrap="square" lIns="0" tIns="0" rIns="0" bIns="0">
            <a:spAutoFit/>
          </a:bodyPr>
          <a:lstStyle/>
          <a:p>
            <a:pPr algn="l">
              <a:spcBef>
                <a:spcPts val="0"/>
              </a:spcBef>
              <a:spcAft>
                <a:spcPts val="0"/>
              </a:spcAft>
            </a:pPr>
            <a:r>
              <a:rPr sz="1500" b="1" i="0">
                <a:solidFill>
                  <a:srgbClr val="233B4B"/>
                </a:solidFill>
                <a:latin typeface="Aptos"/>
              </a:rPr>
              <a:t>01    12 CUSTOMER FEATURES</a:t>
            </a:r>
          </a:p>
        </p:txBody>
      </p:sp>
      <p:sp>
        <p:nvSpPr>
          <p:cNvPr id="16" name="TextBox 15"/>
          <p:cNvSpPr txBox="1"/>
          <p:nvPr/>
        </p:nvSpPr>
        <p:spPr>
          <a:xfrm>
            <a:off x="8842248" y="2898648"/>
            <a:ext cx="411480" cy="219456"/>
          </a:xfrm>
          <a:prstGeom prst="rect">
            <a:avLst/>
          </a:prstGeom>
          <a:noFill/>
        </p:spPr>
        <p:txBody>
          <a:bodyPr wrap="square" lIns="0" tIns="0" rIns="0" bIns="0">
            <a:spAutoFit/>
          </a:bodyPr>
          <a:lstStyle/>
          <a:p>
            <a:pPr algn="ctr">
              <a:spcBef>
                <a:spcPts val="0"/>
              </a:spcBef>
              <a:spcAft>
                <a:spcPts val="0"/>
              </a:spcAft>
            </a:pPr>
            <a:r>
              <a:rPr sz="1800" b="1" i="0">
                <a:solidFill>
                  <a:srgbClr val="216F6B"/>
                </a:solidFill>
                <a:latin typeface="Aptos"/>
              </a:rPr>
              <a:t>↓</a:t>
            </a:r>
          </a:p>
        </p:txBody>
      </p:sp>
      <p:sp>
        <p:nvSpPr>
          <p:cNvPr id="17" name="Rounded Rectangle 16"/>
          <p:cNvSpPr/>
          <p:nvPr/>
        </p:nvSpPr>
        <p:spPr>
          <a:xfrm>
            <a:off x="7022592" y="3172968"/>
            <a:ext cx="4151376" cy="55778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205472" y="3310128"/>
            <a:ext cx="3794760" cy="274320"/>
          </a:xfrm>
          <a:prstGeom prst="rect">
            <a:avLst/>
          </a:prstGeom>
          <a:noFill/>
        </p:spPr>
        <p:txBody>
          <a:bodyPr wrap="square" lIns="0" tIns="0" rIns="0" bIns="0">
            <a:spAutoFit/>
          </a:bodyPr>
          <a:lstStyle/>
          <a:p>
            <a:pPr algn="l">
              <a:spcBef>
                <a:spcPts val="0"/>
              </a:spcBef>
              <a:spcAft>
                <a:spcPts val="0"/>
              </a:spcAft>
            </a:pPr>
            <a:r>
              <a:rPr sz="1500" b="1" i="0">
                <a:solidFill>
                  <a:srgbClr val="233B4B"/>
                </a:solidFill>
                <a:latin typeface="Aptos"/>
              </a:rPr>
              <a:t>02    4 SEGMENT FLAGS</a:t>
            </a:r>
          </a:p>
        </p:txBody>
      </p:sp>
      <p:sp>
        <p:nvSpPr>
          <p:cNvPr id="19" name="TextBox 18"/>
          <p:cNvSpPr txBox="1"/>
          <p:nvPr/>
        </p:nvSpPr>
        <p:spPr>
          <a:xfrm>
            <a:off x="8842248" y="3749039"/>
            <a:ext cx="411480" cy="219456"/>
          </a:xfrm>
          <a:prstGeom prst="rect">
            <a:avLst/>
          </a:prstGeom>
          <a:noFill/>
        </p:spPr>
        <p:txBody>
          <a:bodyPr wrap="square" lIns="0" tIns="0" rIns="0" bIns="0">
            <a:spAutoFit/>
          </a:bodyPr>
          <a:lstStyle/>
          <a:p>
            <a:pPr algn="ctr">
              <a:spcBef>
                <a:spcPts val="0"/>
              </a:spcBef>
              <a:spcAft>
                <a:spcPts val="0"/>
              </a:spcAft>
            </a:pPr>
            <a:r>
              <a:rPr sz="1800" b="1" i="0">
                <a:solidFill>
                  <a:srgbClr val="216F6B"/>
                </a:solidFill>
                <a:latin typeface="Aptos"/>
              </a:rPr>
              <a:t>↓</a:t>
            </a:r>
          </a:p>
        </p:txBody>
      </p:sp>
      <p:sp>
        <p:nvSpPr>
          <p:cNvPr id="20" name="Rounded Rectangle 19"/>
          <p:cNvSpPr/>
          <p:nvPr/>
        </p:nvSpPr>
        <p:spPr>
          <a:xfrm>
            <a:off x="7022592" y="4023360"/>
            <a:ext cx="4151376" cy="55778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205472" y="4160520"/>
            <a:ext cx="3794760" cy="274320"/>
          </a:xfrm>
          <a:prstGeom prst="rect">
            <a:avLst/>
          </a:prstGeom>
          <a:noFill/>
        </p:spPr>
        <p:txBody>
          <a:bodyPr wrap="square" lIns="0" tIns="0" rIns="0" bIns="0">
            <a:spAutoFit/>
          </a:bodyPr>
          <a:lstStyle/>
          <a:p>
            <a:pPr algn="l">
              <a:spcBef>
                <a:spcPts val="0"/>
              </a:spcBef>
              <a:spcAft>
                <a:spcPts val="0"/>
              </a:spcAft>
            </a:pPr>
            <a:r>
              <a:rPr sz="1500" b="1" i="0">
                <a:solidFill>
                  <a:srgbClr val="233B4B"/>
                </a:solidFill>
                <a:latin typeface="Aptos"/>
              </a:rPr>
              <a:t>03    3 CLASSIFIERS</a:t>
            </a:r>
          </a:p>
        </p:txBody>
      </p:sp>
      <p:sp>
        <p:nvSpPr>
          <p:cNvPr id="22" name="TextBox 21"/>
          <p:cNvSpPr txBox="1"/>
          <p:nvPr/>
        </p:nvSpPr>
        <p:spPr>
          <a:xfrm>
            <a:off x="8842248" y="4617720"/>
            <a:ext cx="411480" cy="219456"/>
          </a:xfrm>
          <a:prstGeom prst="rect">
            <a:avLst/>
          </a:prstGeom>
          <a:noFill/>
        </p:spPr>
        <p:txBody>
          <a:bodyPr wrap="square" lIns="0" tIns="0" rIns="0" bIns="0">
            <a:spAutoFit/>
          </a:bodyPr>
          <a:lstStyle/>
          <a:p>
            <a:pPr algn="ctr">
              <a:spcBef>
                <a:spcPts val="0"/>
              </a:spcBef>
              <a:spcAft>
                <a:spcPts val="0"/>
              </a:spcAft>
            </a:pPr>
            <a:r>
              <a:rPr sz="1800" b="1" i="0">
                <a:solidFill>
                  <a:srgbClr val="216F6B"/>
                </a:solidFill>
                <a:latin typeface="Aptos"/>
              </a:rPr>
              <a:t>↓</a:t>
            </a:r>
          </a:p>
        </p:txBody>
      </p:sp>
      <p:sp>
        <p:nvSpPr>
          <p:cNvPr id="23" name="Rounded Rectangle 22"/>
          <p:cNvSpPr/>
          <p:nvPr/>
        </p:nvSpPr>
        <p:spPr>
          <a:xfrm>
            <a:off x="7022592" y="4864608"/>
            <a:ext cx="4151376" cy="594360"/>
          </a:xfrm>
          <a:prstGeom prst="roundRect">
            <a:avLst>
              <a:gd name="adj" fmla="val 12000"/>
            </a:avLst>
          </a:prstGeom>
          <a:solidFill>
            <a:srgbClr val="2C9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205472" y="5010912"/>
            <a:ext cx="3785615" cy="283464"/>
          </a:xfrm>
          <a:prstGeom prst="rect">
            <a:avLst/>
          </a:prstGeom>
          <a:noFill/>
        </p:spPr>
        <p:txBody>
          <a:bodyPr wrap="square" lIns="0" tIns="0" rIns="0" bIns="0">
            <a:spAutoFit/>
          </a:bodyPr>
          <a:lstStyle/>
          <a:p>
            <a:pPr algn="l">
              <a:spcBef>
                <a:spcPts val="0"/>
              </a:spcBef>
              <a:spcAft>
                <a:spcPts val="0"/>
              </a:spcAft>
            </a:pPr>
            <a:r>
              <a:rPr sz="1510" b="1" i="0">
                <a:solidFill>
                  <a:srgbClr val="FFFFFF"/>
                </a:solidFill>
                <a:latin typeface="Aptos"/>
              </a:rPr>
              <a:t>04    RISK SCORE + ACTION</a:t>
            </a:r>
          </a:p>
        </p:txBody>
      </p:sp>
      <p:sp>
        <p:nvSpPr>
          <p:cNvPr id="25" name="TextBox 24"/>
          <p:cNvSpPr txBox="1"/>
          <p:nvPr/>
        </p:nvSpPr>
        <p:spPr>
          <a:xfrm>
            <a:off x="7059168" y="5870448"/>
            <a:ext cx="4023360" cy="219456"/>
          </a:xfrm>
          <a:prstGeom prst="rect">
            <a:avLst/>
          </a:prstGeom>
          <a:noFill/>
        </p:spPr>
        <p:txBody>
          <a:bodyPr wrap="square" lIns="0" tIns="0" rIns="0" bIns="0">
            <a:spAutoFit/>
          </a:bodyPr>
          <a:lstStyle/>
          <a:p>
            <a:pPr algn="l">
              <a:spcBef>
                <a:spcPts val="0"/>
              </a:spcBef>
              <a:spcAft>
                <a:spcPts val="0"/>
              </a:spcAft>
            </a:pPr>
            <a:r>
              <a:rPr sz="1150" b="1" i="0">
                <a:solidFill>
                  <a:srgbClr val="536975"/>
                </a:solidFill>
                <a:latin typeface="Aptos"/>
              </a:rPr>
              <a:t>Target population: 26.6% churn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
          </a:xfrm>
          <a:prstGeom prst="rect">
            <a:avLst/>
          </a:prstGeom>
          <a:solidFill>
            <a:srgbClr val="2C9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30936" y="411480"/>
            <a:ext cx="6675120" cy="265176"/>
          </a:xfrm>
          <a:prstGeom prst="rect">
            <a:avLst/>
          </a:prstGeom>
          <a:noFill/>
        </p:spPr>
        <p:txBody>
          <a:bodyPr wrap="square" lIns="0" tIns="0" rIns="0" bIns="0">
            <a:spAutoFit/>
          </a:bodyPr>
          <a:lstStyle/>
          <a:p>
            <a:pPr algn="l">
              <a:spcBef>
                <a:spcPts val="0"/>
              </a:spcBef>
              <a:spcAft>
                <a:spcPts val="0"/>
              </a:spcAft>
            </a:pPr>
            <a:r>
              <a:rPr sz="1090" b="1" i="0">
                <a:solidFill>
                  <a:srgbClr val="216F6B"/>
                </a:solidFill>
                <a:latin typeface="Aptos"/>
              </a:rPr>
              <a:t>METHODOLOGY OVERVIEW</a:t>
            </a:r>
          </a:p>
        </p:txBody>
      </p:sp>
      <p:sp>
        <p:nvSpPr>
          <p:cNvPr id="5" name="TextBox 4"/>
          <p:cNvSpPr txBox="1"/>
          <p:nvPr/>
        </p:nvSpPr>
        <p:spPr>
          <a:xfrm>
            <a:off x="621792" y="786384"/>
            <a:ext cx="10881360" cy="539496"/>
          </a:xfrm>
          <a:prstGeom prst="rect">
            <a:avLst/>
          </a:prstGeom>
          <a:noFill/>
        </p:spPr>
        <p:txBody>
          <a:bodyPr wrap="square" lIns="0" tIns="0" rIns="0" bIns="0">
            <a:spAutoFit/>
          </a:bodyPr>
          <a:lstStyle/>
          <a:p>
            <a:pPr algn="l">
              <a:spcBef>
                <a:spcPts val="0"/>
              </a:spcBef>
              <a:spcAft>
                <a:spcPts val="0"/>
              </a:spcAft>
            </a:pPr>
            <a:r>
              <a:rPr sz="2730" b="1" i="0">
                <a:solidFill>
                  <a:srgbClr val="233B4B"/>
                </a:solidFill>
                <a:latin typeface="Aptos"/>
              </a:rPr>
              <a:t>Training, validation and test design</a:t>
            </a:r>
          </a:p>
        </p:txBody>
      </p:sp>
      <p:sp>
        <p:nvSpPr>
          <p:cNvPr id="6" name="Rectangle 5"/>
          <p:cNvSpPr/>
          <p:nvPr/>
        </p:nvSpPr>
        <p:spPr>
          <a:xfrm>
            <a:off x="640080" y="1453896"/>
            <a:ext cx="10917936" cy="12801"/>
          </a:xfrm>
          <a:prstGeom prst="rect">
            <a:avLst/>
          </a:prstGeom>
          <a:solidFill>
            <a:srgbClr val="D7DF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22376" y="1618488"/>
            <a:ext cx="5715000" cy="338328"/>
          </a:xfrm>
          <a:prstGeom prst="rect">
            <a:avLst/>
          </a:prstGeom>
          <a:noFill/>
        </p:spPr>
        <p:txBody>
          <a:bodyPr wrap="square" lIns="0" tIns="0" rIns="0" bIns="0">
            <a:spAutoFit/>
          </a:bodyPr>
          <a:lstStyle/>
          <a:p>
            <a:pPr algn="l">
              <a:spcBef>
                <a:spcPts val="0"/>
              </a:spcBef>
              <a:spcAft>
                <a:spcPts val="0"/>
              </a:spcAft>
            </a:pPr>
            <a:r>
              <a:rPr sz="1230" b="1" i="0">
                <a:solidFill>
                  <a:srgbClr val="216F6B"/>
                </a:solidFill>
                <a:latin typeface="Aptos"/>
              </a:rPr>
              <a:t>DATA AND EVALUATION CONTROLS</a:t>
            </a:r>
          </a:p>
        </p:txBody>
      </p:sp>
      <p:sp>
        <p:nvSpPr>
          <p:cNvPr id="8" name="Rectangle 7"/>
          <p:cNvSpPr/>
          <p:nvPr/>
        </p:nvSpPr>
        <p:spPr>
          <a:xfrm>
            <a:off x="640080" y="6462064"/>
            <a:ext cx="10881360" cy="8229"/>
          </a:xfrm>
          <a:prstGeom prst="rect">
            <a:avLst/>
          </a:prstGeom>
          <a:solidFill>
            <a:srgbClr val="D7DF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6537960"/>
            <a:ext cx="10332720" cy="164592"/>
          </a:xfrm>
          <a:prstGeom prst="rect">
            <a:avLst/>
          </a:prstGeom>
          <a:noFill/>
        </p:spPr>
        <p:txBody>
          <a:bodyPr wrap="square" lIns="0" tIns="0" rIns="0" bIns="0">
            <a:spAutoFit/>
          </a:bodyPr>
          <a:lstStyle/>
          <a:p>
            <a:pPr algn="l">
              <a:spcBef>
                <a:spcPts val="0"/>
              </a:spcBef>
              <a:spcAft>
                <a:spcPts val="0"/>
              </a:spcAft>
            </a:pPr>
            <a:r>
              <a:rPr sz="900" b="0" i="0">
                <a:solidFill>
                  <a:srgbClr val="536975"/>
                </a:solidFill>
                <a:latin typeface="Aptos"/>
              </a:rPr>
              <a:t>Sources: Goreja (n.d.); scikit-learn (n.d.); Project (2026).</a:t>
            </a:r>
          </a:p>
        </p:txBody>
      </p:sp>
      <p:sp>
        <p:nvSpPr>
          <p:cNvPr id="10" name="TextBox 9"/>
          <p:cNvSpPr txBox="1"/>
          <p:nvPr/>
        </p:nvSpPr>
        <p:spPr>
          <a:xfrm>
            <a:off x="11155680" y="6528816"/>
            <a:ext cx="338328" cy="182880"/>
          </a:xfrm>
          <a:prstGeom prst="rect">
            <a:avLst/>
          </a:prstGeom>
          <a:noFill/>
        </p:spPr>
        <p:txBody>
          <a:bodyPr wrap="square" lIns="0" tIns="0" rIns="0" bIns="0">
            <a:spAutoFit/>
          </a:bodyPr>
          <a:lstStyle/>
          <a:p>
            <a:pPr algn="r">
              <a:spcBef>
                <a:spcPts val="0"/>
              </a:spcBef>
              <a:spcAft>
                <a:spcPts val="0"/>
              </a:spcAft>
            </a:pPr>
            <a:r>
              <a:rPr sz="1010" b="1" i="0">
                <a:solidFill>
                  <a:srgbClr val="216F6B"/>
                </a:solidFill>
                <a:latin typeface="Aptos"/>
              </a:rPr>
              <a:t>03</a:t>
            </a:r>
          </a:p>
        </p:txBody>
      </p:sp>
      <p:sp>
        <p:nvSpPr>
          <p:cNvPr id="11" name="TextBox 10"/>
          <p:cNvSpPr txBox="1"/>
          <p:nvPr/>
        </p:nvSpPr>
        <p:spPr>
          <a:xfrm>
            <a:off x="731520" y="2057400"/>
            <a:ext cx="5852160" cy="3922776"/>
          </a:xfrm>
          <a:prstGeom prst="rect">
            <a:avLst/>
          </a:prstGeom>
          <a:noFill/>
        </p:spPr>
        <p:txBody>
          <a:bodyPr wrap="square" lIns="18288" tIns="0" rIns="18288" bIns="0">
            <a:spAutoFit/>
          </a:bodyPr>
          <a:lstStyle/>
          <a:p>
            <a:pPr>
              <a:lnSpc>
                <a:spcPct val="103000"/>
              </a:lnSpc>
              <a:spcBef>
                <a:spcPts val="0"/>
              </a:spcBef>
              <a:spcAft>
                <a:spcPts val="1600"/>
              </a:spcAft>
            </a:pPr>
            <a:r>
              <a:rPr sz="1650">
                <a:solidFill>
                  <a:srgbClr val="233B4B"/>
                </a:solidFill>
                <a:latin typeface="Aptos"/>
              </a:rPr>
              <a:t>•  Use 6,741 records with a 26.6% churn rate.</a:t>
            </a:r>
          </a:p>
          <a:p>
            <a:pPr>
              <a:lnSpc>
                <a:spcPct val="103000"/>
              </a:lnSpc>
              <a:spcBef>
                <a:spcPts val="0"/>
              </a:spcBef>
              <a:spcAft>
                <a:spcPts val="1600"/>
              </a:spcAft>
            </a:pPr>
            <a:r>
              <a:rPr sz="1650">
                <a:solidFill>
                  <a:srgbClr val="233B4B"/>
                </a:solidFill>
                <a:latin typeface="Aptos"/>
              </a:rPr>
              <a:t>•  Train on 4,313 customers (64% of the dataset).</a:t>
            </a:r>
          </a:p>
          <a:p>
            <a:pPr>
              <a:lnSpc>
                <a:spcPct val="103000"/>
              </a:lnSpc>
              <a:spcBef>
                <a:spcPts val="0"/>
              </a:spcBef>
              <a:spcAft>
                <a:spcPts val="1600"/>
              </a:spcAft>
            </a:pPr>
            <a:r>
              <a:rPr sz="1650">
                <a:solidFill>
                  <a:srgbClr val="233B4B"/>
                </a:solidFill>
                <a:latin typeface="Aptos"/>
              </a:rPr>
              <a:t>•  Validate on 1,079 customers (16% of the dataset).</a:t>
            </a:r>
          </a:p>
          <a:p>
            <a:pPr>
              <a:lnSpc>
                <a:spcPct val="103000"/>
              </a:lnSpc>
              <a:spcBef>
                <a:spcPts val="0"/>
              </a:spcBef>
              <a:spcAft>
                <a:spcPts val="1600"/>
              </a:spcAft>
            </a:pPr>
            <a:r>
              <a:rPr sz="1650">
                <a:solidFill>
                  <a:srgbClr val="233B4B"/>
                </a:solidFill>
                <a:latin typeface="Aptos"/>
              </a:rPr>
              <a:t>•  Test on 1,349 unseen customers (20% of the data).</a:t>
            </a:r>
          </a:p>
          <a:p>
            <a:pPr>
              <a:lnSpc>
                <a:spcPct val="103000"/>
              </a:lnSpc>
              <a:spcBef>
                <a:spcPts val="0"/>
              </a:spcBef>
              <a:spcAft>
                <a:spcPts val="1600"/>
              </a:spcAft>
            </a:pPr>
            <a:r>
              <a:rPr sz="1650">
                <a:solidFill>
                  <a:srgbClr val="233B4B"/>
                </a:solidFill>
                <a:latin typeface="Aptos"/>
              </a:rPr>
              <a:t>•  Fit scaling and K-Means (k = 4) on training data.</a:t>
            </a:r>
          </a:p>
          <a:p>
            <a:pPr>
              <a:lnSpc>
                <a:spcPct val="103000"/>
              </a:lnSpc>
              <a:spcBef>
                <a:spcPts val="0"/>
              </a:spcBef>
              <a:spcAft>
                <a:spcPts val="1600"/>
              </a:spcAft>
            </a:pPr>
            <a:r>
              <a:rPr sz="1650">
                <a:solidFill>
                  <a:srgbClr val="233B4B"/>
                </a:solidFill>
                <a:latin typeface="Aptos"/>
              </a:rPr>
              <a:t>•  Train ANN, logistic regression and random forest.</a:t>
            </a:r>
          </a:p>
          <a:p>
            <a:pPr>
              <a:lnSpc>
                <a:spcPct val="103000"/>
              </a:lnSpc>
              <a:spcBef>
                <a:spcPts val="0"/>
              </a:spcBef>
              <a:spcAft>
                <a:spcPts val="0"/>
              </a:spcAft>
            </a:pPr>
            <a:r>
              <a:rPr sz="1650">
                <a:solidFill>
                  <a:srgbClr val="233B4B"/>
                </a:solidFill>
                <a:latin typeface="Aptos"/>
              </a:rPr>
              <a:t>•  Select by validation PR-AUC and tune using F2.</a:t>
            </a:r>
          </a:p>
        </p:txBody>
      </p:sp>
      <p:sp>
        <p:nvSpPr>
          <p:cNvPr id="12" name="Rounded Rectangle 11"/>
          <p:cNvSpPr/>
          <p:nvPr/>
        </p:nvSpPr>
        <p:spPr>
          <a:xfrm>
            <a:off x="6684264" y="1691640"/>
            <a:ext cx="4791456" cy="4462272"/>
          </a:xfrm>
          <a:prstGeom prst="roundRect">
            <a:avLst>
              <a:gd name="adj" fmla="val 12000"/>
            </a:avLst>
          </a:prstGeom>
          <a:solidFill>
            <a:srgbClr val="EF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976872" y="1883664"/>
            <a:ext cx="4096512" cy="274320"/>
          </a:xfrm>
          <a:prstGeom prst="rect">
            <a:avLst/>
          </a:prstGeom>
          <a:noFill/>
        </p:spPr>
        <p:txBody>
          <a:bodyPr wrap="square" lIns="0" tIns="0" rIns="0" bIns="0">
            <a:spAutoFit/>
          </a:bodyPr>
          <a:lstStyle/>
          <a:p>
            <a:pPr algn="l">
              <a:spcBef>
                <a:spcPts val="0"/>
              </a:spcBef>
              <a:spcAft>
                <a:spcPts val="0"/>
              </a:spcAft>
            </a:pPr>
            <a:r>
              <a:rPr sz="1220" b="1" i="0">
                <a:solidFill>
                  <a:srgbClr val="216F6B"/>
                </a:solidFill>
                <a:latin typeface="Aptos"/>
              </a:rPr>
              <a:t>DATA SPLIT · STRATIFIED</a:t>
            </a:r>
          </a:p>
        </p:txBody>
      </p:sp>
      <p:sp>
        <p:nvSpPr>
          <p:cNvPr id="14" name="TextBox 13"/>
          <p:cNvSpPr txBox="1"/>
          <p:nvPr/>
        </p:nvSpPr>
        <p:spPr>
          <a:xfrm>
            <a:off x="7022592" y="2377440"/>
            <a:ext cx="2221992" cy="292608"/>
          </a:xfrm>
          <a:prstGeom prst="rect">
            <a:avLst/>
          </a:prstGeom>
          <a:noFill/>
        </p:spPr>
        <p:txBody>
          <a:bodyPr wrap="square" lIns="0" tIns="0" rIns="0" bIns="0">
            <a:spAutoFit/>
          </a:bodyPr>
          <a:lstStyle/>
          <a:p>
            <a:pPr algn="l">
              <a:spcBef>
                <a:spcPts val="0"/>
              </a:spcBef>
              <a:spcAft>
                <a:spcPts val="0"/>
              </a:spcAft>
            </a:pPr>
            <a:r>
              <a:rPr sz="1380" b="1" i="0">
                <a:solidFill>
                  <a:srgbClr val="233B4B"/>
                </a:solidFill>
                <a:latin typeface="Aptos"/>
              </a:rPr>
              <a:t>TRAIN</a:t>
            </a:r>
          </a:p>
        </p:txBody>
      </p:sp>
      <p:sp>
        <p:nvSpPr>
          <p:cNvPr id="15" name="TextBox 14"/>
          <p:cNvSpPr txBox="1"/>
          <p:nvPr/>
        </p:nvSpPr>
        <p:spPr>
          <a:xfrm>
            <a:off x="9153144" y="2377440"/>
            <a:ext cx="1975104" cy="274320"/>
          </a:xfrm>
          <a:prstGeom prst="rect">
            <a:avLst/>
          </a:prstGeom>
          <a:noFill/>
        </p:spPr>
        <p:txBody>
          <a:bodyPr wrap="square" lIns="0" tIns="0" rIns="0" bIns="0">
            <a:spAutoFit/>
          </a:bodyPr>
          <a:lstStyle/>
          <a:p>
            <a:pPr algn="r">
              <a:spcBef>
                <a:spcPts val="0"/>
              </a:spcBef>
              <a:spcAft>
                <a:spcPts val="0"/>
              </a:spcAft>
            </a:pPr>
            <a:r>
              <a:rPr sz="1350" b="1" i="0">
                <a:solidFill>
                  <a:srgbClr val="2C948B"/>
                </a:solidFill>
                <a:latin typeface="Aptos"/>
              </a:rPr>
              <a:t>4,313   |   64%</a:t>
            </a:r>
          </a:p>
        </p:txBody>
      </p:sp>
      <p:sp>
        <p:nvSpPr>
          <p:cNvPr id="16" name="Rounded Rectangle 15"/>
          <p:cNvSpPr/>
          <p:nvPr/>
        </p:nvSpPr>
        <p:spPr>
          <a:xfrm>
            <a:off x="7022592" y="2770632"/>
            <a:ext cx="4133087" cy="2286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7022592" y="2770632"/>
            <a:ext cx="2645176" cy="228600"/>
          </a:xfrm>
          <a:prstGeom prst="roundRect">
            <a:avLst>
              <a:gd name="adj" fmla="val 12000"/>
            </a:avLst>
          </a:prstGeom>
          <a:solidFill>
            <a:srgbClr val="2C9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022592" y="3337560"/>
            <a:ext cx="2221992" cy="292608"/>
          </a:xfrm>
          <a:prstGeom prst="rect">
            <a:avLst/>
          </a:prstGeom>
          <a:noFill/>
        </p:spPr>
        <p:txBody>
          <a:bodyPr wrap="square" lIns="0" tIns="0" rIns="0" bIns="0">
            <a:spAutoFit/>
          </a:bodyPr>
          <a:lstStyle/>
          <a:p>
            <a:pPr algn="l">
              <a:spcBef>
                <a:spcPts val="0"/>
              </a:spcBef>
              <a:spcAft>
                <a:spcPts val="0"/>
              </a:spcAft>
            </a:pPr>
            <a:r>
              <a:rPr sz="1380" b="1" i="0">
                <a:solidFill>
                  <a:srgbClr val="233B4B"/>
                </a:solidFill>
                <a:latin typeface="Aptos"/>
              </a:rPr>
              <a:t>VALIDATION</a:t>
            </a:r>
          </a:p>
        </p:txBody>
      </p:sp>
      <p:sp>
        <p:nvSpPr>
          <p:cNvPr id="19" name="TextBox 18"/>
          <p:cNvSpPr txBox="1"/>
          <p:nvPr/>
        </p:nvSpPr>
        <p:spPr>
          <a:xfrm>
            <a:off x="9153144" y="3337560"/>
            <a:ext cx="1975104" cy="274320"/>
          </a:xfrm>
          <a:prstGeom prst="rect">
            <a:avLst/>
          </a:prstGeom>
          <a:noFill/>
        </p:spPr>
        <p:txBody>
          <a:bodyPr wrap="square" lIns="0" tIns="0" rIns="0" bIns="0">
            <a:spAutoFit/>
          </a:bodyPr>
          <a:lstStyle/>
          <a:p>
            <a:pPr algn="r">
              <a:spcBef>
                <a:spcPts val="0"/>
              </a:spcBef>
              <a:spcAft>
                <a:spcPts val="0"/>
              </a:spcAft>
            </a:pPr>
            <a:r>
              <a:rPr sz="1350" b="1" i="0">
                <a:solidFill>
                  <a:srgbClr val="487CA8"/>
                </a:solidFill>
                <a:latin typeface="Aptos"/>
              </a:rPr>
              <a:t>1,079   |   16%</a:t>
            </a:r>
          </a:p>
        </p:txBody>
      </p:sp>
      <p:sp>
        <p:nvSpPr>
          <p:cNvPr id="20" name="Rounded Rectangle 19"/>
          <p:cNvSpPr/>
          <p:nvPr/>
        </p:nvSpPr>
        <p:spPr>
          <a:xfrm>
            <a:off x="7022592" y="3730752"/>
            <a:ext cx="4133087" cy="2286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7022592" y="3730752"/>
            <a:ext cx="661294" cy="228600"/>
          </a:xfrm>
          <a:prstGeom prst="roundRect">
            <a:avLst>
              <a:gd name="adj" fmla="val 12000"/>
            </a:avLst>
          </a:prstGeom>
          <a:solidFill>
            <a:srgbClr val="487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022592" y="4297680"/>
            <a:ext cx="2221992" cy="292608"/>
          </a:xfrm>
          <a:prstGeom prst="rect">
            <a:avLst/>
          </a:prstGeom>
          <a:noFill/>
        </p:spPr>
        <p:txBody>
          <a:bodyPr wrap="square" lIns="0" tIns="0" rIns="0" bIns="0">
            <a:spAutoFit/>
          </a:bodyPr>
          <a:lstStyle/>
          <a:p>
            <a:pPr algn="l">
              <a:spcBef>
                <a:spcPts val="0"/>
              </a:spcBef>
              <a:spcAft>
                <a:spcPts val="0"/>
              </a:spcAft>
            </a:pPr>
            <a:r>
              <a:rPr sz="1380" b="1" i="0">
                <a:solidFill>
                  <a:srgbClr val="233B4B"/>
                </a:solidFill>
                <a:latin typeface="Aptos"/>
              </a:rPr>
              <a:t>TEST</a:t>
            </a:r>
          </a:p>
        </p:txBody>
      </p:sp>
      <p:sp>
        <p:nvSpPr>
          <p:cNvPr id="23" name="TextBox 22"/>
          <p:cNvSpPr txBox="1"/>
          <p:nvPr/>
        </p:nvSpPr>
        <p:spPr>
          <a:xfrm>
            <a:off x="9153144" y="4297680"/>
            <a:ext cx="1975104" cy="274320"/>
          </a:xfrm>
          <a:prstGeom prst="rect">
            <a:avLst/>
          </a:prstGeom>
          <a:noFill/>
        </p:spPr>
        <p:txBody>
          <a:bodyPr wrap="square" lIns="0" tIns="0" rIns="0" bIns="0">
            <a:spAutoFit/>
          </a:bodyPr>
          <a:lstStyle/>
          <a:p>
            <a:pPr algn="r">
              <a:spcBef>
                <a:spcPts val="0"/>
              </a:spcBef>
              <a:spcAft>
                <a:spcPts val="0"/>
              </a:spcAft>
            </a:pPr>
            <a:r>
              <a:rPr sz="1350" b="1" i="0">
                <a:solidFill>
                  <a:srgbClr val="D77675"/>
                </a:solidFill>
                <a:latin typeface="Aptos"/>
              </a:rPr>
              <a:t>1,349   |   20%</a:t>
            </a:r>
          </a:p>
        </p:txBody>
      </p:sp>
      <p:sp>
        <p:nvSpPr>
          <p:cNvPr id="24" name="Rounded Rectangle 23"/>
          <p:cNvSpPr/>
          <p:nvPr/>
        </p:nvSpPr>
        <p:spPr>
          <a:xfrm>
            <a:off x="7022592" y="4690872"/>
            <a:ext cx="4133087" cy="2286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7022592" y="4690872"/>
            <a:ext cx="826617" cy="228600"/>
          </a:xfrm>
          <a:prstGeom prst="roundRect">
            <a:avLst>
              <a:gd name="adj" fmla="val 12000"/>
            </a:avLst>
          </a:prstGeom>
          <a:solidFill>
            <a:srgbClr val="D776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7022592" y="5413248"/>
            <a:ext cx="4133087" cy="12801"/>
          </a:xfrm>
          <a:prstGeom prst="rect">
            <a:avLst/>
          </a:prstGeom>
          <a:solidFill>
            <a:srgbClr val="D7DF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059168" y="5522976"/>
            <a:ext cx="4023360" cy="182880"/>
          </a:xfrm>
          <a:prstGeom prst="rect">
            <a:avLst/>
          </a:prstGeom>
          <a:noFill/>
        </p:spPr>
        <p:txBody>
          <a:bodyPr wrap="square" lIns="0" tIns="0" rIns="0" bIns="0">
            <a:spAutoFit/>
          </a:bodyPr>
          <a:lstStyle/>
          <a:p>
            <a:pPr algn="l">
              <a:spcBef>
                <a:spcPts val="0"/>
              </a:spcBef>
              <a:spcAft>
                <a:spcPts val="0"/>
              </a:spcAft>
            </a:pPr>
            <a:r>
              <a:rPr sz="1019" b="1" i="0">
                <a:solidFill>
                  <a:srgbClr val="536975"/>
                </a:solidFill>
                <a:latin typeface="Aptos"/>
              </a:rPr>
              <a:t>FINAL TEST: no model selection or retuning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
          </a:xfrm>
          <a:prstGeom prst="rect">
            <a:avLst/>
          </a:prstGeom>
          <a:solidFill>
            <a:srgbClr val="2C9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30936" y="411480"/>
            <a:ext cx="6675120" cy="265176"/>
          </a:xfrm>
          <a:prstGeom prst="rect">
            <a:avLst/>
          </a:prstGeom>
          <a:noFill/>
        </p:spPr>
        <p:txBody>
          <a:bodyPr wrap="square" lIns="0" tIns="0" rIns="0" bIns="0">
            <a:spAutoFit/>
          </a:bodyPr>
          <a:lstStyle/>
          <a:p>
            <a:pPr algn="l">
              <a:spcBef>
                <a:spcPts val="0"/>
              </a:spcBef>
              <a:spcAft>
                <a:spcPts val="0"/>
              </a:spcAft>
            </a:pPr>
            <a:r>
              <a:rPr sz="1090" b="1" i="0">
                <a:solidFill>
                  <a:srgbClr val="216F6B"/>
                </a:solidFill>
                <a:latin typeface="Aptos"/>
              </a:rPr>
              <a:t>ANN TRAINING</a:t>
            </a:r>
          </a:p>
        </p:txBody>
      </p:sp>
      <p:sp>
        <p:nvSpPr>
          <p:cNvPr id="5" name="TextBox 4"/>
          <p:cNvSpPr txBox="1"/>
          <p:nvPr/>
        </p:nvSpPr>
        <p:spPr>
          <a:xfrm>
            <a:off x="621792" y="786384"/>
            <a:ext cx="10881360" cy="539496"/>
          </a:xfrm>
          <a:prstGeom prst="rect">
            <a:avLst/>
          </a:prstGeom>
          <a:noFill/>
        </p:spPr>
        <p:txBody>
          <a:bodyPr wrap="square" lIns="0" tIns="0" rIns="0" bIns="0">
            <a:spAutoFit/>
          </a:bodyPr>
          <a:lstStyle/>
          <a:p>
            <a:pPr algn="l">
              <a:spcBef>
                <a:spcPts val="0"/>
              </a:spcBef>
              <a:spcAft>
                <a:spcPts val="0"/>
              </a:spcAft>
            </a:pPr>
            <a:r>
              <a:rPr sz="2730" b="1" i="0">
                <a:solidFill>
                  <a:srgbClr val="233B4B"/>
                </a:solidFill>
                <a:latin typeface="Aptos"/>
              </a:rPr>
              <a:t>Neural network training and validation</a:t>
            </a:r>
          </a:p>
        </p:txBody>
      </p:sp>
      <p:sp>
        <p:nvSpPr>
          <p:cNvPr id="6" name="Rectangle 5"/>
          <p:cNvSpPr/>
          <p:nvPr/>
        </p:nvSpPr>
        <p:spPr>
          <a:xfrm>
            <a:off x="640080" y="1453896"/>
            <a:ext cx="10917936" cy="12801"/>
          </a:xfrm>
          <a:prstGeom prst="rect">
            <a:avLst/>
          </a:prstGeom>
          <a:solidFill>
            <a:srgbClr val="D7DF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22376" y="1618488"/>
            <a:ext cx="5715000" cy="338328"/>
          </a:xfrm>
          <a:prstGeom prst="rect">
            <a:avLst/>
          </a:prstGeom>
          <a:noFill/>
        </p:spPr>
        <p:txBody>
          <a:bodyPr wrap="square" lIns="0" tIns="0" rIns="0" bIns="0">
            <a:spAutoFit/>
          </a:bodyPr>
          <a:lstStyle/>
          <a:p>
            <a:pPr algn="l">
              <a:spcBef>
                <a:spcPts val="0"/>
              </a:spcBef>
              <a:spcAft>
                <a:spcPts val="0"/>
              </a:spcAft>
            </a:pPr>
            <a:r>
              <a:rPr sz="1230" b="1" i="0">
                <a:solidFill>
                  <a:srgbClr val="216F6B"/>
                </a:solidFill>
                <a:latin typeface="Aptos"/>
              </a:rPr>
              <a:t>TRAINING CHOICES AND RESULTS</a:t>
            </a:r>
          </a:p>
        </p:txBody>
      </p:sp>
      <p:sp>
        <p:nvSpPr>
          <p:cNvPr id="8" name="Rectangle 7"/>
          <p:cNvSpPr/>
          <p:nvPr/>
        </p:nvSpPr>
        <p:spPr>
          <a:xfrm>
            <a:off x="640080" y="6462064"/>
            <a:ext cx="10881360" cy="8229"/>
          </a:xfrm>
          <a:prstGeom prst="rect">
            <a:avLst/>
          </a:prstGeom>
          <a:solidFill>
            <a:srgbClr val="D7DF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6537960"/>
            <a:ext cx="10332720" cy="164592"/>
          </a:xfrm>
          <a:prstGeom prst="rect">
            <a:avLst/>
          </a:prstGeom>
          <a:noFill/>
        </p:spPr>
        <p:txBody>
          <a:bodyPr wrap="square" lIns="0" tIns="0" rIns="0" bIns="0">
            <a:spAutoFit/>
          </a:bodyPr>
          <a:lstStyle/>
          <a:p>
            <a:pPr algn="l">
              <a:spcBef>
                <a:spcPts val="0"/>
              </a:spcBef>
              <a:spcAft>
                <a:spcPts val="0"/>
              </a:spcAft>
            </a:pPr>
            <a:r>
              <a:rPr sz="900" b="0" i="0">
                <a:solidFill>
                  <a:srgbClr val="536975"/>
                </a:solidFill>
                <a:latin typeface="Aptos"/>
              </a:rPr>
              <a:t>Sources: Keras (n.d.); Customer Churn ANN Project (2026).</a:t>
            </a:r>
          </a:p>
        </p:txBody>
      </p:sp>
      <p:sp>
        <p:nvSpPr>
          <p:cNvPr id="10" name="TextBox 9"/>
          <p:cNvSpPr txBox="1"/>
          <p:nvPr/>
        </p:nvSpPr>
        <p:spPr>
          <a:xfrm>
            <a:off x="11155680" y="6528816"/>
            <a:ext cx="338328" cy="182880"/>
          </a:xfrm>
          <a:prstGeom prst="rect">
            <a:avLst/>
          </a:prstGeom>
          <a:noFill/>
        </p:spPr>
        <p:txBody>
          <a:bodyPr wrap="square" lIns="0" tIns="0" rIns="0" bIns="0">
            <a:spAutoFit/>
          </a:bodyPr>
          <a:lstStyle/>
          <a:p>
            <a:pPr algn="r">
              <a:spcBef>
                <a:spcPts val="0"/>
              </a:spcBef>
              <a:spcAft>
                <a:spcPts val="0"/>
              </a:spcAft>
            </a:pPr>
            <a:r>
              <a:rPr sz="1010" b="1" i="0">
                <a:solidFill>
                  <a:srgbClr val="216F6B"/>
                </a:solidFill>
                <a:latin typeface="Aptos"/>
              </a:rPr>
              <a:t>04</a:t>
            </a:r>
          </a:p>
        </p:txBody>
      </p:sp>
      <p:sp>
        <p:nvSpPr>
          <p:cNvPr id="11" name="TextBox 10"/>
          <p:cNvSpPr txBox="1"/>
          <p:nvPr/>
        </p:nvSpPr>
        <p:spPr>
          <a:xfrm>
            <a:off x="731520" y="2057400"/>
            <a:ext cx="5788152" cy="3922776"/>
          </a:xfrm>
          <a:prstGeom prst="rect">
            <a:avLst/>
          </a:prstGeom>
          <a:noFill/>
        </p:spPr>
        <p:txBody>
          <a:bodyPr wrap="square" lIns="18288" tIns="0" rIns="18288" bIns="0">
            <a:spAutoFit/>
          </a:bodyPr>
          <a:lstStyle/>
          <a:p>
            <a:pPr>
              <a:lnSpc>
                <a:spcPct val="103000"/>
              </a:lnSpc>
              <a:spcBef>
                <a:spcPts val="0"/>
              </a:spcBef>
              <a:spcAft>
                <a:spcPts val="1600"/>
              </a:spcAft>
            </a:pPr>
            <a:r>
              <a:rPr sz="1650">
                <a:solidFill>
                  <a:srgbClr val="233B4B"/>
                </a:solidFill>
                <a:latin typeface="Aptos"/>
              </a:rPr>
              <a:t>•  Model inputs: 12 attributes and four cluster flags.</a:t>
            </a:r>
          </a:p>
          <a:p>
            <a:pPr>
              <a:lnSpc>
                <a:spcPct val="103000"/>
              </a:lnSpc>
              <a:spcBef>
                <a:spcPts val="0"/>
              </a:spcBef>
              <a:spcAft>
                <a:spcPts val="1600"/>
              </a:spcAft>
            </a:pPr>
            <a:r>
              <a:rPr sz="1650">
                <a:solidFill>
                  <a:srgbClr val="233B4B"/>
                </a:solidFill>
                <a:latin typeface="Aptos"/>
              </a:rPr>
              <a:t>•  Train for up to 45 epochs with early stopping.</a:t>
            </a:r>
          </a:p>
          <a:p>
            <a:pPr>
              <a:lnSpc>
                <a:spcPct val="103000"/>
              </a:lnSpc>
              <a:spcBef>
                <a:spcPts val="0"/>
              </a:spcBef>
              <a:spcAft>
                <a:spcPts val="1600"/>
              </a:spcAft>
            </a:pPr>
            <a:r>
              <a:rPr sz="1650">
                <a:solidFill>
                  <a:srgbClr val="233B4B"/>
                </a:solidFill>
                <a:latin typeface="Aptos"/>
              </a:rPr>
              <a:t>•  Training finished after 21 epochs (Keras, n.d.).</a:t>
            </a:r>
          </a:p>
          <a:p>
            <a:pPr>
              <a:lnSpc>
                <a:spcPct val="103000"/>
              </a:lnSpc>
              <a:spcBef>
                <a:spcPts val="0"/>
              </a:spcBef>
              <a:spcAft>
                <a:spcPts val="1600"/>
              </a:spcAft>
            </a:pPr>
            <a:r>
              <a:rPr sz="1650">
                <a:solidFill>
                  <a:srgbClr val="233B4B"/>
                </a:solidFill>
                <a:latin typeface="Aptos"/>
              </a:rPr>
              <a:t>•  Monitor loss, accuracy, ROC-AUC and PR-AUC.</a:t>
            </a:r>
          </a:p>
          <a:p>
            <a:pPr>
              <a:lnSpc>
                <a:spcPct val="103000"/>
              </a:lnSpc>
              <a:spcBef>
                <a:spcPts val="0"/>
              </a:spcBef>
              <a:spcAft>
                <a:spcPts val="1600"/>
              </a:spcAft>
            </a:pPr>
            <a:r>
              <a:rPr sz="1650">
                <a:solidFill>
                  <a:srgbClr val="233B4B"/>
                </a:solidFill>
                <a:latin typeface="Aptos"/>
              </a:rPr>
              <a:t>•  ANN validation PR-AUC reached 0.607.</a:t>
            </a:r>
          </a:p>
          <a:p>
            <a:pPr>
              <a:lnSpc>
                <a:spcPct val="103000"/>
              </a:lnSpc>
              <a:spcBef>
                <a:spcPts val="0"/>
              </a:spcBef>
              <a:spcAft>
                <a:spcPts val="1600"/>
              </a:spcAft>
            </a:pPr>
            <a:r>
              <a:rPr sz="1650">
                <a:solidFill>
                  <a:srgbClr val="233B4B"/>
                </a:solidFill>
                <a:latin typeface="Aptos"/>
              </a:rPr>
              <a:t>•  Logistic validation PR-AUC reached 0.604.</a:t>
            </a:r>
          </a:p>
          <a:p>
            <a:pPr>
              <a:lnSpc>
                <a:spcPct val="103000"/>
              </a:lnSpc>
              <a:spcBef>
                <a:spcPts val="0"/>
              </a:spcBef>
              <a:spcAft>
                <a:spcPts val="0"/>
              </a:spcAft>
            </a:pPr>
            <a:r>
              <a:rPr sz="1650">
                <a:solidFill>
                  <a:srgbClr val="233B4B"/>
                </a:solidFill>
                <a:latin typeface="Aptos"/>
              </a:rPr>
              <a:t>•  Choose ANN on validation; set its threshold to 0.298.</a:t>
            </a:r>
          </a:p>
        </p:txBody>
      </p:sp>
      <p:sp>
        <p:nvSpPr>
          <p:cNvPr id="12" name="Rounded Rectangle 11"/>
          <p:cNvSpPr/>
          <p:nvPr/>
        </p:nvSpPr>
        <p:spPr>
          <a:xfrm>
            <a:off x="6684264" y="1691640"/>
            <a:ext cx="4791456" cy="4462272"/>
          </a:xfrm>
          <a:prstGeom prst="roundRect">
            <a:avLst>
              <a:gd name="adj" fmla="val 12000"/>
            </a:avLst>
          </a:prstGeom>
          <a:solidFill>
            <a:srgbClr val="EF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976872" y="1883664"/>
            <a:ext cx="4096512" cy="274320"/>
          </a:xfrm>
          <a:prstGeom prst="rect">
            <a:avLst/>
          </a:prstGeom>
          <a:noFill/>
        </p:spPr>
        <p:txBody>
          <a:bodyPr wrap="square" lIns="0" tIns="0" rIns="0" bIns="0">
            <a:spAutoFit/>
          </a:bodyPr>
          <a:lstStyle/>
          <a:p>
            <a:pPr algn="l">
              <a:spcBef>
                <a:spcPts val="0"/>
              </a:spcBef>
              <a:spcAft>
                <a:spcPts val="0"/>
              </a:spcAft>
            </a:pPr>
            <a:r>
              <a:rPr sz="1220" b="1" i="0">
                <a:solidFill>
                  <a:srgbClr val="216F6B"/>
                </a:solidFill>
                <a:latin typeface="Aptos"/>
              </a:rPr>
              <a:t>LEARNING CURVES · TRAIN VERSUS VALIDATION</a:t>
            </a:r>
          </a:p>
        </p:txBody>
      </p:sp>
      <p:pic>
        <p:nvPicPr>
          <p:cNvPr id="14" name="Picture 13" descr="ann_focus_curves.png"/>
          <p:cNvPicPr>
            <a:picLocks noChangeAspect="1"/>
          </p:cNvPicPr>
          <p:nvPr/>
        </p:nvPicPr>
        <p:blipFill>
          <a:blip r:embed="rId3"/>
          <a:stretch>
            <a:fillRect/>
          </a:stretch>
        </p:blipFill>
        <p:spPr>
          <a:xfrm>
            <a:off x="6931152" y="2221992"/>
            <a:ext cx="4242816" cy="3392424"/>
          </a:xfrm>
          <a:prstGeom prst="rect">
            <a:avLst/>
          </a:prstGeom>
        </p:spPr>
      </p:pic>
      <p:sp>
        <p:nvSpPr>
          <p:cNvPr id="15" name="TextBox 14"/>
          <p:cNvSpPr txBox="1"/>
          <p:nvPr/>
        </p:nvSpPr>
        <p:spPr>
          <a:xfrm>
            <a:off x="6967728" y="5815584"/>
            <a:ext cx="4169663" cy="182880"/>
          </a:xfrm>
          <a:prstGeom prst="rect">
            <a:avLst/>
          </a:prstGeom>
          <a:noFill/>
        </p:spPr>
        <p:txBody>
          <a:bodyPr wrap="square" lIns="0" tIns="0" rIns="0" bIns="0">
            <a:spAutoFit/>
          </a:bodyPr>
          <a:lstStyle/>
          <a:p>
            <a:pPr algn="l">
              <a:spcBef>
                <a:spcPts val="0"/>
              </a:spcBef>
              <a:spcAft>
                <a:spcPts val="0"/>
              </a:spcAft>
            </a:pPr>
            <a:r>
              <a:rPr sz="1040" b="0" i="0">
                <a:solidFill>
                  <a:srgbClr val="536975"/>
                </a:solidFill>
                <a:latin typeface="Aptos"/>
              </a:rPr>
              <a:t>Observed epochs: 21   •   Early stopping enabled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
          </a:xfrm>
          <a:prstGeom prst="rect">
            <a:avLst/>
          </a:prstGeom>
          <a:solidFill>
            <a:srgbClr val="2C9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30936" y="411480"/>
            <a:ext cx="6675120" cy="265176"/>
          </a:xfrm>
          <a:prstGeom prst="rect">
            <a:avLst/>
          </a:prstGeom>
          <a:noFill/>
        </p:spPr>
        <p:txBody>
          <a:bodyPr wrap="square" lIns="0" tIns="0" rIns="0" bIns="0">
            <a:spAutoFit/>
          </a:bodyPr>
          <a:lstStyle/>
          <a:p>
            <a:pPr algn="l">
              <a:spcBef>
                <a:spcPts val="0"/>
              </a:spcBef>
              <a:spcAft>
                <a:spcPts val="0"/>
              </a:spcAft>
            </a:pPr>
            <a:r>
              <a:rPr sz="1090" b="1" i="0">
                <a:solidFill>
                  <a:srgbClr val="216F6B"/>
                </a:solidFill>
                <a:latin typeface="Aptos"/>
              </a:rPr>
              <a:t>MODEL EVALUATION</a:t>
            </a:r>
          </a:p>
        </p:txBody>
      </p:sp>
      <p:sp>
        <p:nvSpPr>
          <p:cNvPr id="5" name="TextBox 4"/>
          <p:cNvSpPr txBox="1"/>
          <p:nvPr/>
        </p:nvSpPr>
        <p:spPr>
          <a:xfrm>
            <a:off x="621792" y="786384"/>
            <a:ext cx="10881360" cy="539496"/>
          </a:xfrm>
          <a:prstGeom prst="rect">
            <a:avLst/>
          </a:prstGeom>
          <a:noFill/>
        </p:spPr>
        <p:txBody>
          <a:bodyPr wrap="square" lIns="0" tIns="0" rIns="0" bIns="0">
            <a:spAutoFit/>
          </a:bodyPr>
          <a:lstStyle/>
          <a:p>
            <a:pPr algn="l">
              <a:spcBef>
                <a:spcPts val="0"/>
              </a:spcBef>
              <a:spcAft>
                <a:spcPts val="0"/>
              </a:spcAft>
            </a:pPr>
            <a:r>
              <a:rPr sz="2730" b="1" i="0">
                <a:solidFill>
                  <a:srgbClr val="233B4B"/>
                </a:solidFill>
                <a:latin typeface="Aptos"/>
              </a:rPr>
              <a:t>Measurement scores: three-model comparison</a:t>
            </a:r>
          </a:p>
        </p:txBody>
      </p:sp>
      <p:sp>
        <p:nvSpPr>
          <p:cNvPr id="6" name="Rectangle 5"/>
          <p:cNvSpPr/>
          <p:nvPr/>
        </p:nvSpPr>
        <p:spPr>
          <a:xfrm>
            <a:off x="640080" y="1453896"/>
            <a:ext cx="10917936" cy="12801"/>
          </a:xfrm>
          <a:prstGeom prst="rect">
            <a:avLst/>
          </a:prstGeom>
          <a:solidFill>
            <a:srgbClr val="D7DF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6462064"/>
            <a:ext cx="10881360" cy="8229"/>
          </a:xfrm>
          <a:prstGeom prst="rect">
            <a:avLst/>
          </a:prstGeom>
          <a:solidFill>
            <a:srgbClr val="D7DF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6537960"/>
            <a:ext cx="10332720" cy="164592"/>
          </a:xfrm>
          <a:prstGeom prst="rect">
            <a:avLst/>
          </a:prstGeom>
          <a:noFill/>
        </p:spPr>
        <p:txBody>
          <a:bodyPr wrap="square" lIns="0" tIns="0" rIns="0" bIns="0">
            <a:spAutoFit/>
          </a:bodyPr>
          <a:lstStyle/>
          <a:p>
            <a:pPr algn="l">
              <a:spcBef>
                <a:spcPts val="0"/>
              </a:spcBef>
              <a:spcAft>
                <a:spcPts val="0"/>
              </a:spcAft>
            </a:pPr>
            <a:r>
              <a:rPr sz="900" b="0" i="0">
                <a:solidFill>
                  <a:srgbClr val="536975"/>
                </a:solidFill>
                <a:latin typeface="Aptos"/>
              </a:rPr>
              <a:t>Source: Customer Churn ANN Project (2026), held-out metrics.json.</a:t>
            </a:r>
          </a:p>
        </p:txBody>
      </p:sp>
      <p:sp>
        <p:nvSpPr>
          <p:cNvPr id="9" name="TextBox 8"/>
          <p:cNvSpPr txBox="1"/>
          <p:nvPr/>
        </p:nvSpPr>
        <p:spPr>
          <a:xfrm>
            <a:off x="11155680" y="6528816"/>
            <a:ext cx="338328" cy="182880"/>
          </a:xfrm>
          <a:prstGeom prst="rect">
            <a:avLst/>
          </a:prstGeom>
          <a:noFill/>
        </p:spPr>
        <p:txBody>
          <a:bodyPr wrap="square" lIns="0" tIns="0" rIns="0" bIns="0">
            <a:spAutoFit/>
          </a:bodyPr>
          <a:lstStyle/>
          <a:p>
            <a:pPr algn="r">
              <a:spcBef>
                <a:spcPts val="0"/>
              </a:spcBef>
              <a:spcAft>
                <a:spcPts val="0"/>
              </a:spcAft>
            </a:pPr>
            <a:r>
              <a:rPr sz="1010" b="1" i="0">
                <a:solidFill>
                  <a:srgbClr val="216F6B"/>
                </a:solidFill>
                <a:latin typeface="Aptos"/>
              </a:rPr>
              <a:t>05</a:t>
            </a:r>
          </a:p>
        </p:txBody>
      </p:sp>
      <p:sp>
        <p:nvSpPr>
          <p:cNvPr id="10" name="TextBox 9"/>
          <p:cNvSpPr txBox="1"/>
          <p:nvPr/>
        </p:nvSpPr>
        <p:spPr>
          <a:xfrm>
            <a:off x="768096" y="1636776"/>
            <a:ext cx="6217920" cy="246888"/>
          </a:xfrm>
          <a:prstGeom prst="rect">
            <a:avLst/>
          </a:prstGeom>
          <a:noFill/>
        </p:spPr>
        <p:txBody>
          <a:bodyPr wrap="square" lIns="0" tIns="0" rIns="0" bIns="0">
            <a:spAutoFit/>
          </a:bodyPr>
          <a:lstStyle/>
          <a:p>
            <a:pPr algn="l">
              <a:spcBef>
                <a:spcPts val="0"/>
              </a:spcBef>
              <a:spcAft>
                <a:spcPts val="0"/>
              </a:spcAft>
            </a:pPr>
            <a:r>
              <a:rPr sz="1220" b="1" i="0">
                <a:solidFill>
                  <a:srgbClr val="216F6B"/>
                </a:solidFill>
                <a:latin typeface="Aptos"/>
              </a:rPr>
              <a:t>HELD-OUT TEST RESULTS  •  VALIDATION-TUNED THRESHOLDS</a:t>
            </a:r>
          </a:p>
        </p:txBody>
      </p:sp>
      <p:sp>
        <p:nvSpPr>
          <p:cNvPr id="11" name="Rounded Rectangle 10"/>
          <p:cNvSpPr/>
          <p:nvPr/>
        </p:nvSpPr>
        <p:spPr>
          <a:xfrm>
            <a:off x="740664" y="1883664"/>
            <a:ext cx="10789920" cy="420624"/>
          </a:xfrm>
          <a:prstGeom prst="roundRect">
            <a:avLst>
              <a:gd name="adj" fmla="val 12000"/>
            </a:avLst>
          </a:prstGeom>
          <a:solidFill>
            <a:srgbClr val="21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95528" y="1988819"/>
            <a:ext cx="2002536" cy="228600"/>
          </a:xfrm>
          <a:prstGeom prst="rect">
            <a:avLst/>
          </a:prstGeom>
          <a:noFill/>
        </p:spPr>
        <p:txBody>
          <a:bodyPr wrap="square" lIns="0" tIns="0" rIns="0" bIns="0">
            <a:spAutoFit/>
          </a:bodyPr>
          <a:lstStyle/>
          <a:p>
            <a:pPr algn="l">
              <a:spcBef>
                <a:spcPts val="0"/>
              </a:spcBef>
              <a:spcAft>
                <a:spcPts val="0"/>
              </a:spcAft>
            </a:pPr>
            <a:r>
              <a:rPr sz="1210" b="1" i="0">
                <a:solidFill>
                  <a:srgbClr val="FFFFFF"/>
                </a:solidFill>
                <a:latin typeface="Aptos"/>
              </a:rPr>
              <a:t>MODEL</a:t>
            </a:r>
          </a:p>
        </p:txBody>
      </p:sp>
      <p:sp>
        <p:nvSpPr>
          <p:cNvPr id="13" name="TextBox 12"/>
          <p:cNvSpPr txBox="1"/>
          <p:nvPr/>
        </p:nvSpPr>
        <p:spPr>
          <a:xfrm>
            <a:off x="2907792" y="1988819"/>
            <a:ext cx="1389888" cy="228600"/>
          </a:xfrm>
          <a:prstGeom prst="rect">
            <a:avLst/>
          </a:prstGeom>
          <a:noFill/>
        </p:spPr>
        <p:txBody>
          <a:bodyPr wrap="square" lIns="0" tIns="0" rIns="0" bIns="0">
            <a:spAutoFit/>
          </a:bodyPr>
          <a:lstStyle/>
          <a:p>
            <a:pPr algn="ctr">
              <a:spcBef>
                <a:spcPts val="0"/>
              </a:spcBef>
              <a:spcAft>
                <a:spcPts val="0"/>
              </a:spcAft>
            </a:pPr>
            <a:r>
              <a:rPr sz="1210" b="1" i="0">
                <a:solidFill>
                  <a:srgbClr val="FFFFFF"/>
                </a:solidFill>
                <a:latin typeface="Aptos"/>
              </a:rPr>
              <a:t>ROC-AUC</a:t>
            </a:r>
          </a:p>
        </p:txBody>
      </p:sp>
      <p:sp>
        <p:nvSpPr>
          <p:cNvPr id="14" name="TextBox 13"/>
          <p:cNvSpPr txBox="1"/>
          <p:nvPr/>
        </p:nvSpPr>
        <p:spPr>
          <a:xfrm>
            <a:off x="4407407" y="1988819"/>
            <a:ext cx="1426464" cy="228600"/>
          </a:xfrm>
          <a:prstGeom prst="rect">
            <a:avLst/>
          </a:prstGeom>
          <a:noFill/>
        </p:spPr>
        <p:txBody>
          <a:bodyPr wrap="square" lIns="0" tIns="0" rIns="0" bIns="0">
            <a:spAutoFit/>
          </a:bodyPr>
          <a:lstStyle/>
          <a:p>
            <a:pPr algn="ctr">
              <a:spcBef>
                <a:spcPts val="0"/>
              </a:spcBef>
              <a:spcAft>
                <a:spcPts val="0"/>
              </a:spcAft>
            </a:pPr>
            <a:r>
              <a:rPr sz="1210" b="1" i="0">
                <a:solidFill>
                  <a:srgbClr val="FFFFFF"/>
                </a:solidFill>
                <a:latin typeface="Aptos"/>
              </a:rPr>
              <a:t>PR-AUC</a:t>
            </a:r>
          </a:p>
        </p:txBody>
      </p:sp>
      <p:sp>
        <p:nvSpPr>
          <p:cNvPr id="15" name="TextBox 14"/>
          <p:cNvSpPr txBox="1"/>
          <p:nvPr/>
        </p:nvSpPr>
        <p:spPr>
          <a:xfrm>
            <a:off x="5943599" y="1988819"/>
            <a:ext cx="1271016" cy="228600"/>
          </a:xfrm>
          <a:prstGeom prst="rect">
            <a:avLst/>
          </a:prstGeom>
          <a:noFill/>
        </p:spPr>
        <p:txBody>
          <a:bodyPr wrap="square" lIns="0" tIns="0" rIns="0" bIns="0">
            <a:spAutoFit/>
          </a:bodyPr>
          <a:lstStyle/>
          <a:p>
            <a:pPr algn="ctr">
              <a:spcBef>
                <a:spcPts val="0"/>
              </a:spcBef>
              <a:spcAft>
                <a:spcPts val="0"/>
              </a:spcAft>
            </a:pPr>
            <a:r>
              <a:rPr sz="1210" b="1" i="0">
                <a:solidFill>
                  <a:srgbClr val="FFFFFF"/>
                </a:solidFill>
                <a:latin typeface="Aptos"/>
              </a:rPr>
              <a:t>F1</a:t>
            </a:r>
          </a:p>
        </p:txBody>
      </p:sp>
      <p:sp>
        <p:nvSpPr>
          <p:cNvPr id="16" name="TextBox 15"/>
          <p:cNvSpPr txBox="1"/>
          <p:nvPr/>
        </p:nvSpPr>
        <p:spPr>
          <a:xfrm>
            <a:off x="7324344" y="1988819"/>
            <a:ext cx="1280160" cy="228600"/>
          </a:xfrm>
          <a:prstGeom prst="rect">
            <a:avLst/>
          </a:prstGeom>
          <a:noFill/>
        </p:spPr>
        <p:txBody>
          <a:bodyPr wrap="square" lIns="0" tIns="0" rIns="0" bIns="0">
            <a:spAutoFit/>
          </a:bodyPr>
          <a:lstStyle/>
          <a:p>
            <a:pPr algn="ctr">
              <a:spcBef>
                <a:spcPts val="0"/>
              </a:spcBef>
              <a:spcAft>
                <a:spcPts val="0"/>
              </a:spcAft>
            </a:pPr>
            <a:r>
              <a:rPr sz="1210" b="1" i="0">
                <a:solidFill>
                  <a:srgbClr val="FFFFFF"/>
                </a:solidFill>
                <a:latin typeface="Aptos"/>
              </a:rPr>
              <a:t>RECALL</a:t>
            </a:r>
          </a:p>
        </p:txBody>
      </p:sp>
      <p:sp>
        <p:nvSpPr>
          <p:cNvPr id="17" name="TextBox 16"/>
          <p:cNvSpPr txBox="1"/>
          <p:nvPr/>
        </p:nvSpPr>
        <p:spPr>
          <a:xfrm>
            <a:off x="8714232" y="1988819"/>
            <a:ext cx="1344168" cy="228600"/>
          </a:xfrm>
          <a:prstGeom prst="rect">
            <a:avLst/>
          </a:prstGeom>
          <a:noFill/>
        </p:spPr>
        <p:txBody>
          <a:bodyPr wrap="square" lIns="0" tIns="0" rIns="0" bIns="0">
            <a:spAutoFit/>
          </a:bodyPr>
          <a:lstStyle/>
          <a:p>
            <a:pPr algn="ctr">
              <a:spcBef>
                <a:spcPts val="0"/>
              </a:spcBef>
              <a:spcAft>
                <a:spcPts val="0"/>
              </a:spcAft>
            </a:pPr>
            <a:r>
              <a:rPr sz="1210" b="1" i="0">
                <a:solidFill>
                  <a:srgbClr val="FFFFFF"/>
                </a:solidFill>
                <a:latin typeface="Aptos"/>
              </a:rPr>
              <a:t>PRECISION</a:t>
            </a:r>
          </a:p>
        </p:txBody>
      </p:sp>
      <p:sp>
        <p:nvSpPr>
          <p:cNvPr id="18" name="TextBox 17"/>
          <p:cNvSpPr txBox="1"/>
          <p:nvPr/>
        </p:nvSpPr>
        <p:spPr>
          <a:xfrm>
            <a:off x="10168128" y="1988819"/>
            <a:ext cx="1307592" cy="228600"/>
          </a:xfrm>
          <a:prstGeom prst="rect">
            <a:avLst/>
          </a:prstGeom>
          <a:noFill/>
        </p:spPr>
        <p:txBody>
          <a:bodyPr wrap="square" lIns="0" tIns="0" rIns="0" bIns="0">
            <a:spAutoFit/>
          </a:bodyPr>
          <a:lstStyle/>
          <a:p>
            <a:pPr algn="ctr">
              <a:spcBef>
                <a:spcPts val="0"/>
              </a:spcBef>
              <a:spcAft>
                <a:spcPts val="0"/>
              </a:spcAft>
            </a:pPr>
            <a:r>
              <a:rPr sz="1210" b="1" i="0">
                <a:solidFill>
                  <a:srgbClr val="FFFFFF"/>
                </a:solidFill>
                <a:latin typeface="Aptos"/>
              </a:rPr>
              <a:t>ACCURACY</a:t>
            </a:r>
          </a:p>
        </p:txBody>
      </p:sp>
      <p:sp>
        <p:nvSpPr>
          <p:cNvPr id="19" name="Rounded Rectangle 18"/>
          <p:cNvSpPr/>
          <p:nvPr/>
        </p:nvSpPr>
        <p:spPr>
          <a:xfrm>
            <a:off x="740664" y="2350008"/>
            <a:ext cx="10789920" cy="50292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95528" y="2466136"/>
            <a:ext cx="2002536" cy="283464"/>
          </a:xfrm>
          <a:prstGeom prst="rect">
            <a:avLst/>
          </a:prstGeom>
          <a:noFill/>
        </p:spPr>
        <p:txBody>
          <a:bodyPr wrap="square" lIns="0" tIns="0" rIns="0" bIns="0">
            <a:spAutoFit/>
          </a:bodyPr>
          <a:lstStyle/>
          <a:p>
            <a:pPr algn="l">
              <a:spcBef>
                <a:spcPts val="0"/>
              </a:spcBef>
              <a:spcAft>
                <a:spcPts val="0"/>
              </a:spcAft>
            </a:pPr>
            <a:r>
              <a:rPr sz="1300" b="0" i="0">
                <a:solidFill>
                  <a:srgbClr val="233B4B"/>
                </a:solidFill>
                <a:latin typeface="Aptos"/>
              </a:rPr>
              <a:t>Logistic regression</a:t>
            </a:r>
          </a:p>
        </p:txBody>
      </p:sp>
      <p:sp>
        <p:nvSpPr>
          <p:cNvPr id="21" name="TextBox 20"/>
          <p:cNvSpPr txBox="1"/>
          <p:nvPr/>
        </p:nvSpPr>
        <p:spPr>
          <a:xfrm>
            <a:off x="2907792" y="2466136"/>
            <a:ext cx="1389888" cy="283464"/>
          </a:xfrm>
          <a:prstGeom prst="rect">
            <a:avLst/>
          </a:prstGeom>
          <a:noFill/>
        </p:spPr>
        <p:txBody>
          <a:bodyPr wrap="square" lIns="0" tIns="0" rIns="0" bIns="0">
            <a:spAutoFit/>
          </a:bodyPr>
          <a:lstStyle/>
          <a:p>
            <a:pPr algn="ctr">
              <a:spcBef>
                <a:spcPts val="0"/>
              </a:spcBef>
              <a:spcAft>
                <a:spcPts val="0"/>
              </a:spcAft>
            </a:pPr>
            <a:r>
              <a:rPr sz="1600" b="1" i="0">
                <a:solidFill>
                  <a:srgbClr val="233B4B"/>
                </a:solidFill>
                <a:latin typeface="Aptos"/>
              </a:rPr>
              <a:t>0.817</a:t>
            </a:r>
          </a:p>
        </p:txBody>
      </p:sp>
      <p:sp>
        <p:nvSpPr>
          <p:cNvPr id="22" name="TextBox 21"/>
          <p:cNvSpPr txBox="1"/>
          <p:nvPr/>
        </p:nvSpPr>
        <p:spPr>
          <a:xfrm>
            <a:off x="4407407" y="2466136"/>
            <a:ext cx="1426464" cy="283464"/>
          </a:xfrm>
          <a:prstGeom prst="rect">
            <a:avLst/>
          </a:prstGeom>
          <a:noFill/>
        </p:spPr>
        <p:txBody>
          <a:bodyPr wrap="square" lIns="0" tIns="0" rIns="0" bIns="0">
            <a:spAutoFit/>
          </a:bodyPr>
          <a:lstStyle/>
          <a:p>
            <a:pPr algn="ctr">
              <a:spcBef>
                <a:spcPts val="0"/>
              </a:spcBef>
              <a:spcAft>
                <a:spcPts val="0"/>
              </a:spcAft>
            </a:pPr>
            <a:r>
              <a:rPr sz="1600" b="0" i="0">
                <a:solidFill>
                  <a:srgbClr val="233B4B"/>
                </a:solidFill>
                <a:latin typeface="Aptos"/>
              </a:rPr>
              <a:t>0.596</a:t>
            </a:r>
          </a:p>
        </p:txBody>
      </p:sp>
      <p:sp>
        <p:nvSpPr>
          <p:cNvPr id="23" name="TextBox 22"/>
          <p:cNvSpPr txBox="1"/>
          <p:nvPr/>
        </p:nvSpPr>
        <p:spPr>
          <a:xfrm>
            <a:off x="5943599" y="2466136"/>
            <a:ext cx="1271016" cy="283464"/>
          </a:xfrm>
          <a:prstGeom prst="rect">
            <a:avLst/>
          </a:prstGeom>
          <a:noFill/>
        </p:spPr>
        <p:txBody>
          <a:bodyPr wrap="square" lIns="0" tIns="0" rIns="0" bIns="0">
            <a:spAutoFit/>
          </a:bodyPr>
          <a:lstStyle/>
          <a:p>
            <a:pPr algn="ctr">
              <a:spcBef>
                <a:spcPts val="0"/>
              </a:spcBef>
              <a:spcAft>
                <a:spcPts val="0"/>
              </a:spcAft>
            </a:pPr>
            <a:r>
              <a:rPr sz="1600" b="0" i="0">
                <a:solidFill>
                  <a:srgbClr val="233B4B"/>
                </a:solidFill>
                <a:latin typeface="Aptos"/>
              </a:rPr>
              <a:t>0.561</a:t>
            </a:r>
          </a:p>
        </p:txBody>
      </p:sp>
      <p:sp>
        <p:nvSpPr>
          <p:cNvPr id="24" name="TextBox 23"/>
          <p:cNvSpPr txBox="1"/>
          <p:nvPr/>
        </p:nvSpPr>
        <p:spPr>
          <a:xfrm>
            <a:off x="7324344" y="2466136"/>
            <a:ext cx="1280160" cy="283464"/>
          </a:xfrm>
          <a:prstGeom prst="rect">
            <a:avLst/>
          </a:prstGeom>
          <a:noFill/>
        </p:spPr>
        <p:txBody>
          <a:bodyPr wrap="square" lIns="0" tIns="0" rIns="0" bIns="0">
            <a:spAutoFit/>
          </a:bodyPr>
          <a:lstStyle/>
          <a:p>
            <a:pPr algn="ctr">
              <a:spcBef>
                <a:spcPts val="0"/>
              </a:spcBef>
              <a:spcAft>
                <a:spcPts val="0"/>
              </a:spcAft>
            </a:pPr>
            <a:r>
              <a:rPr sz="1600" b="1" i="0">
                <a:solidFill>
                  <a:srgbClr val="233B4B"/>
                </a:solidFill>
                <a:latin typeface="Aptos"/>
              </a:rPr>
              <a:t>92.7%</a:t>
            </a:r>
          </a:p>
        </p:txBody>
      </p:sp>
      <p:sp>
        <p:nvSpPr>
          <p:cNvPr id="25" name="TextBox 24"/>
          <p:cNvSpPr txBox="1"/>
          <p:nvPr/>
        </p:nvSpPr>
        <p:spPr>
          <a:xfrm>
            <a:off x="8714232" y="2466136"/>
            <a:ext cx="1344168" cy="283464"/>
          </a:xfrm>
          <a:prstGeom prst="rect">
            <a:avLst/>
          </a:prstGeom>
          <a:noFill/>
        </p:spPr>
        <p:txBody>
          <a:bodyPr wrap="square" lIns="0" tIns="0" rIns="0" bIns="0">
            <a:spAutoFit/>
          </a:bodyPr>
          <a:lstStyle/>
          <a:p>
            <a:pPr algn="ctr">
              <a:spcBef>
                <a:spcPts val="0"/>
              </a:spcBef>
              <a:spcAft>
                <a:spcPts val="0"/>
              </a:spcAft>
            </a:pPr>
            <a:r>
              <a:rPr sz="1600" b="0" i="0">
                <a:solidFill>
                  <a:srgbClr val="233B4B"/>
                </a:solidFill>
                <a:latin typeface="Aptos"/>
              </a:rPr>
              <a:t>40.2%</a:t>
            </a:r>
          </a:p>
        </p:txBody>
      </p:sp>
      <p:sp>
        <p:nvSpPr>
          <p:cNvPr id="26" name="TextBox 25"/>
          <p:cNvSpPr txBox="1"/>
          <p:nvPr/>
        </p:nvSpPr>
        <p:spPr>
          <a:xfrm>
            <a:off x="10168128" y="2466136"/>
            <a:ext cx="1307592" cy="283464"/>
          </a:xfrm>
          <a:prstGeom prst="rect">
            <a:avLst/>
          </a:prstGeom>
          <a:noFill/>
        </p:spPr>
        <p:txBody>
          <a:bodyPr wrap="square" lIns="0" tIns="0" rIns="0" bIns="0">
            <a:spAutoFit/>
          </a:bodyPr>
          <a:lstStyle/>
          <a:p>
            <a:pPr algn="ctr">
              <a:spcBef>
                <a:spcPts val="0"/>
              </a:spcBef>
              <a:spcAft>
                <a:spcPts val="0"/>
              </a:spcAft>
            </a:pPr>
            <a:r>
              <a:rPr sz="1600" b="0" i="0">
                <a:solidFill>
                  <a:srgbClr val="233B4B"/>
                </a:solidFill>
                <a:latin typeface="Aptos"/>
              </a:rPr>
              <a:t>61.5%</a:t>
            </a:r>
          </a:p>
        </p:txBody>
      </p:sp>
      <p:sp>
        <p:nvSpPr>
          <p:cNvPr id="27" name="Rounded Rectangle 26"/>
          <p:cNvSpPr/>
          <p:nvPr/>
        </p:nvSpPr>
        <p:spPr>
          <a:xfrm>
            <a:off x="740664" y="2898648"/>
            <a:ext cx="10789920" cy="502920"/>
          </a:xfrm>
          <a:prstGeom prst="roundRect">
            <a:avLst>
              <a:gd name="adj" fmla="val 12000"/>
            </a:avLst>
          </a:prstGeom>
          <a:solidFill>
            <a:srgbClr val="EF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95528" y="3014776"/>
            <a:ext cx="2002536" cy="283464"/>
          </a:xfrm>
          <a:prstGeom prst="rect">
            <a:avLst/>
          </a:prstGeom>
          <a:noFill/>
        </p:spPr>
        <p:txBody>
          <a:bodyPr wrap="square" lIns="0" tIns="0" rIns="0" bIns="0">
            <a:spAutoFit/>
          </a:bodyPr>
          <a:lstStyle/>
          <a:p>
            <a:pPr algn="l">
              <a:spcBef>
                <a:spcPts val="0"/>
              </a:spcBef>
              <a:spcAft>
                <a:spcPts val="0"/>
              </a:spcAft>
            </a:pPr>
            <a:r>
              <a:rPr sz="1300" b="0" i="0">
                <a:solidFill>
                  <a:srgbClr val="233B4B"/>
                </a:solidFill>
                <a:latin typeface="Aptos"/>
              </a:rPr>
              <a:t>Random forest</a:t>
            </a:r>
          </a:p>
        </p:txBody>
      </p:sp>
      <p:sp>
        <p:nvSpPr>
          <p:cNvPr id="29" name="TextBox 28"/>
          <p:cNvSpPr txBox="1"/>
          <p:nvPr/>
        </p:nvSpPr>
        <p:spPr>
          <a:xfrm>
            <a:off x="2907792" y="3014776"/>
            <a:ext cx="1389888" cy="283464"/>
          </a:xfrm>
          <a:prstGeom prst="rect">
            <a:avLst/>
          </a:prstGeom>
          <a:noFill/>
        </p:spPr>
        <p:txBody>
          <a:bodyPr wrap="square" lIns="0" tIns="0" rIns="0" bIns="0">
            <a:spAutoFit/>
          </a:bodyPr>
          <a:lstStyle/>
          <a:p>
            <a:pPr algn="ctr">
              <a:spcBef>
                <a:spcPts val="0"/>
              </a:spcBef>
              <a:spcAft>
                <a:spcPts val="0"/>
              </a:spcAft>
            </a:pPr>
            <a:r>
              <a:rPr sz="1600" b="1" i="0">
                <a:solidFill>
                  <a:srgbClr val="233B4B"/>
                </a:solidFill>
                <a:latin typeface="Aptos"/>
              </a:rPr>
              <a:t>0.789</a:t>
            </a:r>
          </a:p>
        </p:txBody>
      </p:sp>
      <p:sp>
        <p:nvSpPr>
          <p:cNvPr id="30" name="TextBox 29"/>
          <p:cNvSpPr txBox="1"/>
          <p:nvPr/>
        </p:nvSpPr>
        <p:spPr>
          <a:xfrm>
            <a:off x="4407407" y="3014776"/>
            <a:ext cx="1426464" cy="283464"/>
          </a:xfrm>
          <a:prstGeom prst="rect">
            <a:avLst/>
          </a:prstGeom>
          <a:noFill/>
        </p:spPr>
        <p:txBody>
          <a:bodyPr wrap="square" lIns="0" tIns="0" rIns="0" bIns="0">
            <a:spAutoFit/>
          </a:bodyPr>
          <a:lstStyle/>
          <a:p>
            <a:pPr algn="ctr">
              <a:spcBef>
                <a:spcPts val="0"/>
              </a:spcBef>
              <a:spcAft>
                <a:spcPts val="0"/>
              </a:spcAft>
            </a:pPr>
            <a:r>
              <a:rPr sz="1600" b="0" i="0">
                <a:solidFill>
                  <a:srgbClr val="233B4B"/>
                </a:solidFill>
                <a:latin typeface="Aptos"/>
              </a:rPr>
              <a:t>0.542</a:t>
            </a:r>
          </a:p>
        </p:txBody>
      </p:sp>
      <p:sp>
        <p:nvSpPr>
          <p:cNvPr id="31" name="TextBox 30"/>
          <p:cNvSpPr txBox="1"/>
          <p:nvPr/>
        </p:nvSpPr>
        <p:spPr>
          <a:xfrm>
            <a:off x="5943599" y="3014776"/>
            <a:ext cx="1271016" cy="283464"/>
          </a:xfrm>
          <a:prstGeom prst="rect">
            <a:avLst/>
          </a:prstGeom>
          <a:noFill/>
        </p:spPr>
        <p:txBody>
          <a:bodyPr wrap="square" lIns="0" tIns="0" rIns="0" bIns="0">
            <a:spAutoFit/>
          </a:bodyPr>
          <a:lstStyle/>
          <a:p>
            <a:pPr algn="ctr">
              <a:spcBef>
                <a:spcPts val="0"/>
              </a:spcBef>
              <a:spcAft>
                <a:spcPts val="0"/>
              </a:spcAft>
            </a:pPr>
            <a:r>
              <a:rPr sz="1600" b="0" i="0">
                <a:solidFill>
                  <a:srgbClr val="233B4B"/>
                </a:solidFill>
                <a:latin typeface="Aptos"/>
              </a:rPr>
              <a:t>0.530</a:t>
            </a:r>
          </a:p>
        </p:txBody>
      </p:sp>
      <p:sp>
        <p:nvSpPr>
          <p:cNvPr id="32" name="TextBox 31"/>
          <p:cNvSpPr txBox="1"/>
          <p:nvPr/>
        </p:nvSpPr>
        <p:spPr>
          <a:xfrm>
            <a:off x="7324344" y="3014776"/>
            <a:ext cx="1280160" cy="283464"/>
          </a:xfrm>
          <a:prstGeom prst="rect">
            <a:avLst/>
          </a:prstGeom>
          <a:noFill/>
        </p:spPr>
        <p:txBody>
          <a:bodyPr wrap="square" lIns="0" tIns="0" rIns="0" bIns="0">
            <a:spAutoFit/>
          </a:bodyPr>
          <a:lstStyle/>
          <a:p>
            <a:pPr algn="ctr">
              <a:spcBef>
                <a:spcPts val="0"/>
              </a:spcBef>
              <a:spcAft>
                <a:spcPts val="0"/>
              </a:spcAft>
            </a:pPr>
            <a:r>
              <a:rPr sz="1600" b="1" i="0">
                <a:solidFill>
                  <a:srgbClr val="233B4B"/>
                </a:solidFill>
                <a:latin typeface="Aptos"/>
              </a:rPr>
              <a:t>90.2%</a:t>
            </a:r>
          </a:p>
        </p:txBody>
      </p:sp>
      <p:sp>
        <p:nvSpPr>
          <p:cNvPr id="33" name="TextBox 32"/>
          <p:cNvSpPr txBox="1"/>
          <p:nvPr/>
        </p:nvSpPr>
        <p:spPr>
          <a:xfrm>
            <a:off x="8714232" y="3014776"/>
            <a:ext cx="1344168" cy="283464"/>
          </a:xfrm>
          <a:prstGeom prst="rect">
            <a:avLst/>
          </a:prstGeom>
          <a:noFill/>
        </p:spPr>
        <p:txBody>
          <a:bodyPr wrap="square" lIns="0" tIns="0" rIns="0" bIns="0">
            <a:spAutoFit/>
          </a:bodyPr>
          <a:lstStyle/>
          <a:p>
            <a:pPr algn="ctr">
              <a:spcBef>
                <a:spcPts val="0"/>
              </a:spcBef>
              <a:spcAft>
                <a:spcPts val="0"/>
              </a:spcAft>
            </a:pPr>
            <a:r>
              <a:rPr sz="1600" b="0" i="0">
                <a:solidFill>
                  <a:srgbClr val="233B4B"/>
                </a:solidFill>
                <a:latin typeface="Aptos"/>
              </a:rPr>
              <a:t>37.5%</a:t>
            </a:r>
          </a:p>
        </p:txBody>
      </p:sp>
      <p:sp>
        <p:nvSpPr>
          <p:cNvPr id="34" name="TextBox 33"/>
          <p:cNvSpPr txBox="1"/>
          <p:nvPr/>
        </p:nvSpPr>
        <p:spPr>
          <a:xfrm>
            <a:off x="10168128" y="3014776"/>
            <a:ext cx="1307592" cy="283464"/>
          </a:xfrm>
          <a:prstGeom prst="rect">
            <a:avLst/>
          </a:prstGeom>
          <a:noFill/>
        </p:spPr>
        <p:txBody>
          <a:bodyPr wrap="square" lIns="0" tIns="0" rIns="0" bIns="0">
            <a:spAutoFit/>
          </a:bodyPr>
          <a:lstStyle/>
          <a:p>
            <a:pPr algn="ctr">
              <a:spcBef>
                <a:spcPts val="0"/>
              </a:spcBef>
              <a:spcAft>
                <a:spcPts val="0"/>
              </a:spcAft>
            </a:pPr>
            <a:r>
              <a:rPr sz="1600" b="0" i="0">
                <a:solidFill>
                  <a:srgbClr val="233B4B"/>
                </a:solidFill>
                <a:latin typeface="Aptos"/>
              </a:rPr>
              <a:t>57.5%</a:t>
            </a:r>
          </a:p>
        </p:txBody>
      </p:sp>
      <p:sp>
        <p:nvSpPr>
          <p:cNvPr id="35" name="Rounded Rectangle 34"/>
          <p:cNvSpPr/>
          <p:nvPr/>
        </p:nvSpPr>
        <p:spPr>
          <a:xfrm>
            <a:off x="740664" y="3447287"/>
            <a:ext cx="10789920" cy="502920"/>
          </a:xfrm>
          <a:prstGeom prst="roundRect">
            <a:avLst>
              <a:gd name="adj" fmla="val 12000"/>
            </a:avLst>
          </a:prstGeom>
          <a:solidFill>
            <a:srgbClr val="E6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95528" y="3563416"/>
            <a:ext cx="2002536" cy="283464"/>
          </a:xfrm>
          <a:prstGeom prst="rect">
            <a:avLst/>
          </a:prstGeom>
          <a:noFill/>
        </p:spPr>
        <p:txBody>
          <a:bodyPr wrap="square" lIns="0" tIns="0" rIns="0" bIns="0">
            <a:spAutoFit/>
          </a:bodyPr>
          <a:lstStyle/>
          <a:p>
            <a:pPr algn="l">
              <a:spcBef>
                <a:spcPts val="0"/>
              </a:spcBef>
              <a:spcAft>
                <a:spcPts val="0"/>
              </a:spcAft>
            </a:pPr>
            <a:r>
              <a:rPr sz="1300" b="1" i="0">
                <a:solidFill>
                  <a:srgbClr val="216F6B"/>
                </a:solidFill>
                <a:latin typeface="Aptos"/>
              </a:rPr>
              <a:t>ANN  ★ SELECTED</a:t>
            </a:r>
          </a:p>
        </p:txBody>
      </p:sp>
      <p:sp>
        <p:nvSpPr>
          <p:cNvPr id="37" name="TextBox 36"/>
          <p:cNvSpPr txBox="1"/>
          <p:nvPr/>
        </p:nvSpPr>
        <p:spPr>
          <a:xfrm>
            <a:off x="2907792" y="3563416"/>
            <a:ext cx="1389888" cy="283464"/>
          </a:xfrm>
          <a:prstGeom prst="rect">
            <a:avLst/>
          </a:prstGeom>
          <a:noFill/>
        </p:spPr>
        <p:txBody>
          <a:bodyPr wrap="square" lIns="0" tIns="0" rIns="0" bIns="0">
            <a:spAutoFit/>
          </a:bodyPr>
          <a:lstStyle/>
          <a:p>
            <a:pPr algn="ctr">
              <a:spcBef>
                <a:spcPts val="0"/>
              </a:spcBef>
              <a:spcAft>
                <a:spcPts val="0"/>
              </a:spcAft>
            </a:pPr>
            <a:r>
              <a:rPr sz="1600" b="1" i="0">
                <a:solidFill>
                  <a:srgbClr val="216F6B"/>
                </a:solidFill>
                <a:latin typeface="Aptos"/>
              </a:rPr>
              <a:t>0.810</a:t>
            </a:r>
          </a:p>
        </p:txBody>
      </p:sp>
      <p:sp>
        <p:nvSpPr>
          <p:cNvPr id="38" name="TextBox 37"/>
          <p:cNvSpPr txBox="1"/>
          <p:nvPr/>
        </p:nvSpPr>
        <p:spPr>
          <a:xfrm>
            <a:off x="4407407" y="3563416"/>
            <a:ext cx="1426464" cy="283464"/>
          </a:xfrm>
          <a:prstGeom prst="rect">
            <a:avLst/>
          </a:prstGeom>
          <a:noFill/>
        </p:spPr>
        <p:txBody>
          <a:bodyPr wrap="square" lIns="0" tIns="0" rIns="0" bIns="0">
            <a:spAutoFit/>
          </a:bodyPr>
          <a:lstStyle/>
          <a:p>
            <a:pPr algn="ctr">
              <a:spcBef>
                <a:spcPts val="0"/>
              </a:spcBef>
              <a:spcAft>
                <a:spcPts val="0"/>
              </a:spcAft>
            </a:pPr>
            <a:r>
              <a:rPr sz="1600" b="1" i="0">
                <a:solidFill>
                  <a:srgbClr val="216F6B"/>
                </a:solidFill>
                <a:latin typeface="Aptos"/>
              </a:rPr>
              <a:t>0.587</a:t>
            </a:r>
          </a:p>
        </p:txBody>
      </p:sp>
      <p:sp>
        <p:nvSpPr>
          <p:cNvPr id="39" name="TextBox 38"/>
          <p:cNvSpPr txBox="1"/>
          <p:nvPr/>
        </p:nvSpPr>
        <p:spPr>
          <a:xfrm>
            <a:off x="5943599" y="3563416"/>
            <a:ext cx="1271016" cy="283464"/>
          </a:xfrm>
          <a:prstGeom prst="rect">
            <a:avLst/>
          </a:prstGeom>
          <a:noFill/>
        </p:spPr>
        <p:txBody>
          <a:bodyPr wrap="square" lIns="0" tIns="0" rIns="0" bIns="0">
            <a:spAutoFit/>
          </a:bodyPr>
          <a:lstStyle/>
          <a:p>
            <a:pPr algn="ctr">
              <a:spcBef>
                <a:spcPts val="0"/>
              </a:spcBef>
              <a:spcAft>
                <a:spcPts val="0"/>
              </a:spcAft>
            </a:pPr>
            <a:r>
              <a:rPr sz="1600" b="1" i="0">
                <a:solidFill>
                  <a:srgbClr val="216F6B"/>
                </a:solidFill>
                <a:latin typeface="Aptos"/>
              </a:rPr>
              <a:t>0.557</a:t>
            </a:r>
          </a:p>
        </p:txBody>
      </p:sp>
      <p:sp>
        <p:nvSpPr>
          <p:cNvPr id="40" name="TextBox 39"/>
          <p:cNvSpPr txBox="1"/>
          <p:nvPr/>
        </p:nvSpPr>
        <p:spPr>
          <a:xfrm>
            <a:off x="7324344" y="3563416"/>
            <a:ext cx="1280160" cy="283464"/>
          </a:xfrm>
          <a:prstGeom prst="rect">
            <a:avLst/>
          </a:prstGeom>
          <a:noFill/>
        </p:spPr>
        <p:txBody>
          <a:bodyPr wrap="square" lIns="0" tIns="0" rIns="0" bIns="0">
            <a:spAutoFit/>
          </a:bodyPr>
          <a:lstStyle/>
          <a:p>
            <a:pPr algn="ctr">
              <a:spcBef>
                <a:spcPts val="0"/>
              </a:spcBef>
              <a:spcAft>
                <a:spcPts val="0"/>
              </a:spcAft>
            </a:pPr>
            <a:r>
              <a:rPr sz="1600" b="1" i="0">
                <a:solidFill>
                  <a:srgbClr val="216F6B"/>
                </a:solidFill>
                <a:latin typeface="Aptos"/>
              </a:rPr>
              <a:t>91.9%</a:t>
            </a:r>
          </a:p>
        </p:txBody>
      </p:sp>
      <p:sp>
        <p:nvSpPr>
          <p:cNvPr id="41" name="TextBox 40"/>
          <p:cNvSpPr txBox="1"/>
          <p:nvPr/>
        </p:nvSpPr>
        <p:spPr>
          <a:xfrm>
            <a:off x="8714232" y="3563416"/>
            <a:ext cx="1344168" cy="283464"/>
          </a:xfrm>
          <a:prstGeom prst="rect">
            <a:avLst/>
          </a:prstGeom>
          <a:noFill/>
        </p:spPr>
        <p:txBody>
          <a:bodyPr wrap="square" lIns="0" tIns="0" rIns="0" bIns="0">
            <a:spAutoFit/>
          </a:bodyPr>
          <a:lstStyle/>
          <a:p>
            <a:pPr algn="ctr">
              <a:spcBef>
                <a:spcPts val="0"/>
              </a:spcBef>
              <a:spcAft>
                <a:spcPts val="0"/>
              </a:spcAft>
            </a:pPr>
            <a:r>
              <a:rPr sz="1600" b="1" i="0">
                <a:solidFill>
                  <a:srgbClr val="216F6B"/>
                </a:solidFill>
                <a:latin typeface="Aptos"/>
              </a:rPr>
              <a:t>40.0%</a:t>
            </a:r>
          </a:p>
        </p:txBody>
      </p:sp>
      <p:sp>
        <p:nvSpPr>
          <p:cNvPr id="42" name="TextBox 41"/>
          <p:cNvSpPr txBox="1"/>
          <p:nvPr/>
        </p:nvSpPr>
        <p:spPr>
          <a:xfrm>
            <a:off x="10168128" y="3563416"/>
            <a:ext cx="1307592" cy="283464"/>
          </a:xfrm>
          <a:prstGeom prst="rect">
            <a:avLst/>
          </a:prstGeom>
          <a:noFill/>
        </p:spPr>
        <p:txBody>
          <a:bodyPr wrap="square" lIns="0" tIns="0" rIns="0" bIns="0">
            <a:spAutoFit/>
          </a:bodyPr>
          <a:lstStyle/>
          <a:p>
            <a:pPr algn="ctr">
              <a:spcBef>
                <a:spcPts val="0"/>
              </a:spcBef>
              <a:spcAft>
                <a:spcPts val="0"/>
              </a:spcAft>
            </a:pPr>
            <a:r>
              <a:rPr sz="1600" b="1" i="0">
                <a:solidFill>
                  <a:srgbClr val="216F6B"/>
                </a:solidFill>
                <a:latin typeface="Aptos"/>
              </a:rPr>
              <a:t>61.2%</a:t>
            </a:r>
          </a:p>
        </p:txBody>
      </p:sp>
      <p:sp>
        <p:nvSpPr>
          <p:cNvPr id="43" name="TextBox 42"/>
          <p:cNvSpPr txBox="1"/>
          <p:nvPr/>
        </p:nvSpPr>
        <p:spPr>
          <a:xfrm>
            <a:off x="749808" y="4105656"/>
            <a:ext cx="6675120" cy="256032"/>
          </a:xfrm>
          <a:prstGeom prst="rect">
            <a:avLst/>
          </a:prstGeom>
          <a:noFill/>
        </p:spPr>
        <p:txBody>
          <a:bodyPr wrap="square" lIns="0" tIns="0" rIns="0" bIns="0">
            <a:spAutoFit/>
          </a:bodyPr>
          <a:lstStyle/>
          <a:p>
            <a:pPr algn="l">
              <a:spcBef>
                <a:spcPts val="0"/>
              </a:spcBef>
              <a:spcAft>
                <a:spcPts val="0"/>
              </a:spcAft>
            </a:pPr>
            <a:r>
              <a:rPr sz="1220" b="1" i="0">
                <a:solidFill>
                  <a:srgbClr val="216F6B"/>
                </a:solidFill>
                <a:latin typeface="Aptos"/>
              </a:rPr>
              <a:t>PERFORMANCE INTERPRETATION</a:t>
            </a:r>
          </a:p>
        </p:txBody>
      </p:sp>
      <p:sp>
        <p:nvSpPr>
          <p:cNvPr id="44" name="TextBox 43"/>
          <p:cNvSpPr txBox="1"/>
          <p:nvPr/>
        </p:nvSpPr>
        <p:spPr>
          <a:xfrm>
            <a:off x="777240" y="4416552"/>
            <a:ext cx="10716768" cy="1911095"/>
          </a:xfrm>
          <a:prstGeom prst="rect">
            <a:avLst/>
          </a:prstGeom>
          <a:noFill/>
        </p:spPr>
        <p:txBody>
          <a:bodyPr wrap="square" lIns="18288" tIns="0" rIns="18288" bIns="0">
            <a:spAutoFit/>
          </a:bodyPr>
          <a:lstStyle/>
          <a:p>
            <a:pPr>
              <a:lnSpc>
                <a:spcPct val="103000"/>
              </a:lnSpc>
              <a:spcBef>
                <a:spcPts val="0"/>
              </a:spcBef>
              <a:spcAft>
                <a:spcPts val="260"/>
              </a:spcAft>
            </a:pPr>
            <a:r>
              <a:rPr sz="1550">
                <a:solidFill>
                  <a:srgbClr val="233B4B"/>
                </a:solidFill>
                <a:latin typeface="Aptos"/>
              </a:rPr>
              <a:t>•  Logistic regression has the strongest test ROC-AUC and PR-AUC.</a:t>
            </a:r>
          </a:p>
          <a:p>
            <a:pPr>
              <a:lnSpc>
                <a:spcPct val="103000"/>
              </a:lnSpc>
              <a:spcBef>
                <a:spcPts val="0"/>
              </a:spcBef>
              <a:spcAft>
                <a:spcPts val="260"/>
              </a:spcAft>
            </a:pPr>
            <a:r>
              <a:rPr sz="1550">
                <a:solidFill>
                  <a:srgbClr val="233B4B"/>
                </a:solidFill>
                <a:latin typeface="Aptos"/>
              </a:rPr>
              <a:t>•  ANN ranks second on these threshold-independent AUC measures.</a:t>
            </a:r>
          </a:p>
          <a:p>
            <a:pPr>
              <a:lnSpc>
                <a:spcPct val="103000"/>
              </a:lnSpc>
              <a:spcBef>
                <a:spcPts val="0"/>
              </a:spcBef>
              <a:spcAft>
                <a:spcPts val="260"/>
              </a:spcAft>
            </a:pPr>
            <a:r>
              <a:rPr sz="1550">
                <a:solidFill>
                  <a:srgbClr val="233B4B"/>
                </a:solidFill>
                <a:latin typeface="Aptos"/>
              </a:rPr>
              <a:t>•  Logistic regression achieves the highest recall: 92.7%.</a:t>
            </a:r>
          </a:p>
          <a:p>
            <a:pPr>
              <a:lnSpc>
                <a:spcPct val="103000"/>
              </a:lnSpc>
              <a:spcBef>
                <a:spcPts val="0"/>
              </a:spcBef>
              <a:spcAft>
                <a:spcPts val="260"/>
              </a:spcAft>
            </a:pPr>
            <a:r>
              <a:rPr sz="1550">
                <a:solidFill>
                  <a:srgbClr val="233B4B"/>
                </a:solidFill>
                <a:latin typeface="Aptos"/>
              </a:rPr>
              <a:t>•  ANN captures 91.9% of churners at a 0.298 threshold.</a:t>
            </a:r>
          </a:p>
          <a:p>
            <a:pPr>
              <a:lnSpc>
                <a:spcPct val="103000"/>
              </a:lnSpc>
              <a:spcBef>
                <a:spcPts val="0"/>
              </a:spcBef>
              <a:spcAft>
                <a:spcPts val="260"/>
              </a:spcAft>
            </a:pPr>
            <a:r>
              <a:rPr sz="1550">
                <a:solidFill>
                  <a:srgbClr val="233B4B"/>
                </a:solidFill>
                <a:latin typeface="Aptos"/>
              </a:rPr>
              <a:t>•  F1 scores remain modest because precision is near 40%.</a:t>
            </a:r>
          </a:p>
          <a:p>
            <a:pPr>
              <a:lnSpc>
                <a:spcPct val="103000"/>
              </a:lnSpc>
              <a:spcBef>
                <a:spcPts val="0"/>
              </a:spcBef>
              <a:spcAft>
                <a:spcPts val="260"/>
              </a:spcAft>
            </a:pPr>
            <a:r>
              <a:rPr sz="1550">
                <a:solidFill>
                  <a:srgbClr val="233B4B"/>
                </a:solidFill>
                <a:latin typeface="Aptos"/>
              </a:rPr>
              <a:t>•  Threshold selection raises recall but lowers overall accuracy.</a:t>
            </a:r>
          </a:p>
          <a:p>
            <a:pPr>
              <a:lnSpc>
                <a:spcPct val="103000"/>
              </a:lnSpc>
              <a:spcBef>
                <a:spcPts val="0"/>
              </a:spcBef>
              <a:spcAft>
                <a:spcPts val="0"/>
              </a:spcAft>
            </a:pPr>
            <a:r>
              <a:rPr sz="1550">
                <a:solidFill>
                  <a:srgbClr val="233B4B"/>
                </a:solidFill>
                <a:latin typeface="Aptos"/>
              </a:rPr>
              <a:t>•  ANN was selected by validation PR-AUC, not the test results.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
          </a:xfrm>
          <a:prstGeom prst="rect">
            <a:avLst/>
          </a:prstGeom>
          <a:solidFill>
            <a:srgbClr val="2C9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30936" y="411480"/>
            <a:ext cx="6675120" cy="265176"/>
          </a:xfrm>
          <a:prstGeom prst="rect">
            <a:avLst/>
          </a:prstGeom>
          <a:noFill/>
        </p:spPr>
        <p:txBody>
          <a:bodyPr wrap="square" lIns="0" tIns="0" rIns="0" bIns="0">
            <a:spAutoFit/>
          </a:bodyPr>
          <a:lstStyle/>
          <a:p>
            <a:pPr algn="l">
              <a:spcBef>
                <a:spcPts val="0"/>
              </a:spcBef>
              <a:spcAft>
                <a:spcPts val="0"/>
              </a:spcAft>
            </a:pPr>
            <a:r>
              <a:rPr sz="1090" b="1" i="0">
                <a:solidFill>
                  <a:srgbClr val="216F6B"/>
                </a:solidFill>
                <a:latin typeface="Aptos"/>
              </a:rPr>
              <a:t>DISCUSSION OF KEY FINDINGS</a:t>
            </a:r>
          </a:p>
        </p:txBody>
      </p:sp>
      <p:sp>
        <p:nvSpPr>
          <p:cNvPr id="5" name="TextBox 4"/>
          <p:cNvSpPr txBox="1"/>
          <p:nvPr/>
        </p:nvSpPr>
        <p:spPr>
          <a:xfrm>
            <a:off x="621792" y="786384"/>
            <a:ext cx="10881360" cy="539496"/>
          </a:xfrm>
          <a:prstGeom prst="rect">
            <a:avLst/>
          </a:prstGeom>
          <a:noFill/>
        </p:spPr>
        <p:txBody>
          <a:bodyPr wrap="square" lIns="0" tIns="0" rIns="0" bIns="0">
            <a:spAutoFit/>
          </a:bodyPr>
          <a:lstStyle/>
          <a:p>
            <a:pPr algn="l">
              <a:spcBef>
                <a:spcPts val="0"/>
              </a:spcBef>
              <a:spcAft>
                <a:spcPts val="0"/>
              </a:spcAft>
            </a:pPr>
            <a:r>
              <a:rPr sz="2730" b="1" i="0">
                <a:solidFill>
                  <a:srgbClr val="233B4B"/>
                </a:solidFill>
                <a:latin typeface="Aptos"/>
              </a:rPr>
              <a:t>High recall comes with a false-alert trade-off</a:t>
            </a:r>
          </a:p>
        </p:txBody>
      </p:sp>
      <p:sp>
        <p:nvSpPr>
          <p:cNvPr id="6" name="Rectangle 5"/>
          <p:cNvSpPr/>
          <p:nvPr/>
        </p:nvSpPr>
        <p:spPr>
          <a:xfrm>
            <a:off x="640080" y="1453896"/>
            <a:ext cx="10917936" cy="12801"/>
          </a:xfrm>
          <a:prstGeom prst="rect">
            <a:avLst/>
          </a:prstGeom>
          <a:solidFill>
            <a:srgbClr val="D7DF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22376" y="1618488"/>
            <a:ext cx="5715000" cy="338328"/>
          </a:xfrm>
          <a:prstGeom prst="rect">
            <a:avLst/>
          </a:prstGeom>
          <a:noFill/>
        </p:spPr>
        <p:txBody>
          <a:bodyPr wrap="square" lIns="0" tIns="0" rIns="0" bIns="0">
            <a:spAutoFit/>
          </a:bodyPr>
          <a:lstStyle/>
          <a:p>
            <a:pPr algn="l">
              <a:spcBef>
                <a:spcPts val="0"/>
              </a:spcBef>
              <a:spcAft>
                <a:spcPts val="0"/>
              </a:spcAft>
            </a:pPr>
            <a:r>
              <a:rPr sz="1230" b="1" i="0">
                <a:solidFill>
                  <a:srgbClr val="216F6B"/>
                </a:solidFill>
                <a:latin typeface="Aptos"/>
              </a:rPr>
              <a:t>MEANING OF THE TEST SCORES</a:t>
            </a:r>
          </a:p>
        </p:txBody>
      </p:sp>
      <p:sp>
        <p:nvSpPr>
          <p:cNvPr id="8" name="Rectangle 7"/>
          <p:cNvSpPr/>
          <p:nvPr/>
        </p:nvSpPr>
        <p:spPr>
          <a:xfrm>
            <a:off x="640080" y="6462064"/>
            <a:ext cx="10881360" cy="8229"/>
          </a:xfrm>
          <a:prstGeom prst="rect">
            <a:avLst/>
          </a:prstGeom>
          <a:solidFill>
            <a:srgbClr val="D7DF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6537960"/>
            <a:ext cx="10332720" cy="164592"/>
          </a:xfrm>
          <a:prstGeom prst="rect">
            <a:avLst/>
          </a:prstGeom>
          <a:noFill/>
        </p:spPr>
        <p:txBody>
          <a:bodyPr wrap="square" lIns="0" tIns="0" rIns="0" bIns="0">
            <a:spAutoFit/>
          </a:bodyPr>
          <a:lstStyle/>
          <a:p>
            <a:pPr algn="l">
              <a:spcBef>
                <a:spcPts val="0"/>
              </a:spcBef>
              <a:spcAft>
                <a:spcPts val="0"/>
              </a:spcAft>
            </a:pPr>
            <a:r>
              <a:rPr sz="900" b="0" i="0">
                <a:solidFill>
                  <a:srgbClr val="536975"/>
                </a:solidFill>
                <a:latin typeface="Aptos"/>
              </a:rPr>
              <a:t>Sources: Project (2026), metrics.json; scikit-learn (n.d.).</a:t>
            </a:r>
          </a:p>
        </p:txBody>
      </p:sp>
      <p:sp>
        <p:nvSpPr>
          <p:cNvPr id="10" name="TextBox 9"/>
          <p:cNvSpPr txBox="1"/>
          <p:nvPr/>
        </p:nvSpPr>
        <p:spPr>
          <a:xfrm>
            <a:off x="11155680" y="6528816"/>
            <a:ext cx="338328" cy="182880"/>
          </a:xfrm>
          <a:prstGeom prst="rect">
            <a:avLst/>
          </a:prstGeom>
          <a:noFill/>
        </p:spPr>
        <p:txBody>
          <a:bodyPr wrap="square" lIns="0" tIns="0" rIns="0" bIns="0">
            <a:spAutoFit/>
          </a:bodyPr>
          <a:lstStyle/>
          <a:p>
            <a:pPr algn="r">
              <a:spcBef>
                <a:spcPts val="0"/>
              </a:spcBef>
              <a:spcAft>
                <a:spcPts val="0"/>
              </a:spcAft>
            </a:pPr>
            <a:r>
              <a:rPr sz="1010" b="1" i="0">
                <a:solidFill>
                  <a:srgbClr val="216F6B"/>
                </a:solidFill>
                <a:latin typeface="Aptos"/>
              </a:rPr>
              <a:t>06</a:t>
            </a:r>
          </a:p>
        </p:txBody>
      </p:sp>
      <p:sp>
        <p:nvSpPr>
          <p:cNvPr id="11" name="TextBox 10"/>
          <p:cNvSpPr txBox="1"/>
          <p:nvPr/>
        </p:nvSpPr>
        <p:spPr>
          <a:xfrm>
            <a:off x="731520" y="2057400"/>
            <a:ext cx="5806440" cy="3895344"/>
          </a:xfrm>
          <a:prstGeom prst="rect">
            <a:avLst/>
          </a:prstGeom>
          <a:noFill/>
        </p:spPr>
        <p:txBody>
          <a:bodyPr wrap="square" lIns="18288" tIns="0" rIns="18288" bIns="0">
            <a:spAutoFit/>
          </a:bodyPr>
          <a:lstStyle/>
          <a:p>
            <a:pPr>
              <a:lnSpc>
                <a:spcPct val="103000"/>
              </a:lnSpc>
              <a:spcBef>
                <a:spcPts val="0"/>
              </a:spcBef>
              <a:spcAft>
                <a:spcPts val="1600"/>
              </a:spcAft>
            </a:pPr>
            <a:r>
              <a:rPr sz="1664">
                <a:solidFill>
                  <a:srgbClr val="233B4B"/>
                </a:solidFill>
                <a:latin typeface="Aptos"/>
              </a:rPr>
              <a:t>•  The ANN finds 329 of 358 real churners in testing.</a:t>
            </a:r>
          </a:p>
          <a:p>
            <a:pPr>
              <a:lnSpc>
                <a:spcPct val="103000"/>
              </a:lnSpc>
              <a:spcBef>
                <a:spcPts val="0"/>
              </a:spcBef>
              <a:spcAft>
                <a:spcPts val="1600"/>
              </a:spcAft>
            </a:pPr>
            <a:r>
              <a:rPr sz="1664">
                <a:solidFill>
                  <a:srgbClr val="233B4B"/>
                </a:solidFill>
                <a:latin typeface="Aptos"/>
              </a:rPr>
              <a:t>•  Only 29 churners are missed: recall is 91.9%.</a:t>
            </a:r>
          </a:p>
          <a:p>
            <a:pPr>
              <a:lnSpc>
                <a:spcPct val="103000"/>
              </a:lnSpc>
              <a:spcBef>
                <a:spcPts val="0"/>
              </a:spcBef>
              <a:spcAft>
                <a:spcPts val="1600"/>
              </a:spcAft>
            </a:pPr>
            <a:r>
              <a:rPr sz="1664">
                <a:solidFill>
                  <a:srgbClr val="233B4B"/>
                </a:solidFill>
                <a:latin typeface="Aptos"/>
              </a:rPr>
              <a:t>•  It flags 494 retained customers incorrectly.</a:t>
            </a:r>
          </a:p>
          <a:p>
            <a:pPr>
              <a:lnSpc>
                <a:spcPct val="103000"/>
              </a:lnSpc>
              <a:spcBef>
                <a:spcPts val="0"/>
              </a:spcBef>
              <a:spcAft>
                <a:spcPts val="1600"/>
              </a:spcAft>
            </a:pPr>
            <a:r>
              <a:rPr sz="1664">
                <a:solidFill>
                  <a:srgbClr val="233B4B"/>
                </a:solidFill>
                <a:latin typeface="Aptos"/>
              </a:rPr>
              <a:t>•  Churn precision is 40.0%; alerts need prioritisation.</a:t>
            </a:r>
          </a:p>
          <a:p>
            <a:pPr>
              <a:lnSpc>
                <a:spcPct val="103000"/>
              </a:lnSpc>
              <a:spcBef>
                <a:spcPts val="0"/>
              </a:spcBef>
              <a:spcAft>
                <a:spcPts val="1600"/>
              </a:spcAft>
            </a:pPr>
            <a:r>
              <a:rPr sz="1664">
                <a:solidFill>
                  <a:srgbClr val="233B4B"/>
                </a:solidFill>
                <a:latin typeface="Aptos"/>
              </a:rPr>
              <a:t>•  Test ROC-AUC is 0.810 and PR-AUC is 0.587.</a:t>
            </a:r>
          </a:p>
          <a:p>
            <a:pPr>
              <a:lnSpc>
                <a:spcPct val="103000"/>
              </a:lnSpc>
              <a:spcBef>
                <a:spcPts val="0"/>
              </a:spcBef>
              <a:spcAft>
                <a:spcPts val="1600"/>
              </a:spcAft>
            </a:pPr>
            <a:r>
              <a:rPr sz="1664">
                <a:solidFill>
                  <a:srgbClr val="233B4B"/>
                </a:solidFill>
                <a:latin typeface="Aptos"/>
              </a:rPr>
              <a:t>•  Logistic regression is slightly stronger on test AUC.</a:t>
            </a:r>
          </a:p>
          <a:p>
            <a:pPr>
              <a:lnSpc>
                <a:spcPct val="103000"/>
              </a:lnSpc>
              <a:spcBef>
                <a:spcPts val="0"/>
              </a:spcBef>
              <a:spcAft>
                <a:spcPts val="0"/>
              </a:spcAft>
            </a:pPr>
            <a:r>
              <a:rPr sz="1664">
                <a:solidFill>
                  <a:srgbClr val="233B4B"/>
                </a:solidFill>
                <a:latin typeface="Aptos"/>
              </a:rPr>
              <a:t>•  Evaluate outreach costs and upstream scaling leakage.</a:t>
            </a:r>
          </a:p>
        </p:txBody>
      </p:sp>
      <p:sp>
        <p:nvSpPr>
          <p:cNvPr id="12" name="Rounded Rectangle 11"/>
          <p:cNvSpPr/>
          <p:nvPr/>
        </p:nvSpPr>
        <p:spPr>
          <a:xfrm>
            <a:off x="6684264" y="1691640"/>
            <a:ext cx="4791456" cy="4462272"/>
          </a:xfrm>
          <a:prstGeom prst="roundRect">
            <a:avLst>
              <a:gd name="adj" fmla="val 12000"/>
            </a:avLst>
          </a:prstGeom>
          <a:solidFill>
            <a:srgbClr val="EF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976872" y="1883664"/>
            <a:ext cx="4096512" cy="274320"/>
          </a:xfrm>
          <a:prstGeom prst="rect">
            <a:avLst/>
          </a:prstGeom>
          <a:noFill/>
        </p:spPr>
        <p:txBody>
          <a:bodyPr wrap="square" lIns="0" tIns="0" rIns="0" bIns="0">
            <a:spAutoFit/>
          </a:bodyPr>
          <a:lstStyle/>
          <a:p>
            <a:pPr algn="l">
              <a:spcBef>
                <a:spcPts val="0"/>
              </a:spcBef>
              <a:spcAft>
                <a:spcPts val="0"/>
              </a:spcAft>
            </a:pPr>
            <a:r>
              <a:rPr sz="1220" b="1" i="0">
                <a:solidFill>
                  <a:srgbClr val="216F6B"/>
                </a:solidFill>
                <a:latin typeface="Aptos"/>
              </a:rPr>
              <a:t>ANN CONFUSION MATRIX · TEST SET</a:t>
            </a:r>
          </a:p>
        </p:txBody>
      </p:sp>
      <p:sp>
        <p:nvSpPr>
          <p:cNvPr id="14" name="TextBox 13"/>
          <p:cNvSpPr txBox="1"/>
          <p:nvPr/>
        </p:nvSpPr>
        <p:spPr>
          <a:xfrm>
            <a:off x="7086600" y="2304288"/>
            <a:ext cx="4005072" cy="256032"/>
          </a:xfrm>
          <a:prstGeom prst="rect">
            <a:avLst/>
          </a:prstGeom>
          <a:noFill/>
        </p:spPr>
        <p:txBody>
          <a:bodyPr wrap="square" lIns="0" tIns="0" rIns="0" bIns="0">
            <a:spAutoFit/>
          </a:bodyPr>
          <a:lstStyle/>
          <a:p>
            <a:pPr algn="ctr">
              <a:spcBef>
                <a:spcPts val="0"/>
              </a:spcBef>
              <a:spcAft>
                <a:spcPts val="0"/>
              </a:spcAft>
            </a:pPr>
            <a:r>
              <a:rPr sz="1100" b="1" i="0">
                <a:solidFill>
                  <a:srgbClr val="536975"/>
                </a:solidFill>
                <a:latin typeface="Aptos"/>
              </a:rPr>
              <a:t>Predicted retained          Predicted churn</a:t>
            </a:r>
          </a:p>
        </p:txBody>
      </p:sp>
      <p:sp>
        <p:nvSpPr>
          <p:cNvPr id="15" name="Rounded Rectangle 14"/>
          <p:cNvSpPr/>
          <p:nvPr/>
        </p:nvSpPr>
        <p:spPr>
          <a:xfrm>
            <a:off x="7059168" y="2724912"/>
            <a:ext cx="1920240" cy="116128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78040" y="2889504"/>
            <a:ext cx="1664208" cy="429768"/>
          </a:xfrm>
          <a:prstGeom prst="rect">
            <a:avLst/>
          </a:prstGeom>
          <a:noFill/>
        </p:spPr>
        <p:txBody>
          <a:bodyPr wrap="square" lIns="0" tIns="0" rIns="0" bIns="0">
            <a:spAutoFit/>
          </a:bodyPr>
          <a:lstStyle/>
          <a:p>
            <a:pPr algn="l">
              <a:spcBef>
                <a:spcPts val="0"/>
              </a:spcBef>
              <a:spcAft>
                <a:spcPts val="0"/>
              </a:spcAft>
            </a:pPr>
            <a:r>
              <a:rPr sz="2750" b="1" i="0">
                <a:solidFill>
                  <a:srgbClr val="2C948B"/>
                </a:solidFill>
                <a:latin typeface="Aptos"/>
              </a:rPr>
              <a:t>497</a:t>
            </a:r>
          </a:p>
        </p:txBody>
      </p:sp>
      <p:sp>
        <p:nvSpPr>
          <p:cNvPr id="17" name="TextBox 16"/>
          <p:cNvSpPr txBox="1"/>
          <p:nvPr/>
        </p:nvSpPr>
        <p:spPr>
          <a:xfrm>
            <a:off x="7178040" y="3483864"/>
            <a:ext cx="1700784" cy="210312"/>
          </a:xfrm>
          <a:prstGeom prst="rect">
            <a:avLst/>
          </a:prstGeom>
          <a:noFill/>
        </p:spPr>
        <p:txBody>
          <a:bodyPr wrap="square" lIns="0" tIns="0" rIns="0" bIns="0">
            <a:spAutoFit/>
          </a:bodyPr>
          <a:lstStyle/>
          <a:p>
            <a:pPr algn="l">
              <a:spcBef>
                <a:spcPts val="0"/>
              </a:spcBef>
              <a:spcAft>
                <a:spcPts val="0"/>
              </a:spcAft>
            </a:pPr>
            <a:r>
              <a:rPr sz="1050" b="1" i="0">
                <a:solidFill>
                  <a:srgbClr val="536975"/>
                </a:solidFill>
                <a:latin typeface="Aptos"/>
              </a:rPr>
              <a:t>TRUE NEGATIVE</a:t>
            </a:r>
          </a:p>
        </p:txBody>
      </p:sp>
      <p:sp>
        <p:nvSpPr>
          <p:cNvPr id="18" name="Rounded Rectangle 17"/>
          <p:cNvSpPr/>
          <p:nvPr/>
        </p:nvSpPr>
        <p:spPr>
          <a:xfrm>
            <a:off x="9189720" y="2724912"/>
            <a:ext cx="1920240" cy="116128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08592" y="2889504"/>
            <a:ext cx="1664208" cy="429768"/>
          </a:xfrm>
          <a:prstGeom prst="rect">
            <a:avLst/>
          </a:prstGeom>
          <a:noFill/>
        </p:spPr>
        <p:txBody>
          <a:bodyPr wrap="square" lIns="0" tIns="0" rIns="0" bIns="0">
            <a:spAutoFit/>
          </a:bodyPr>
          <a:lstStyle/>
          <a:p>
            <a:pPr algn="l">
              <a:spcBef>
                <a:spcPts val="0"/>
              </a:spcBef>
              <a:spcAft>
                <a:spcPts val="0"/>
              </a:spcAft>
            </a:pPr>
            <a:r>
              <a:rPr sz="2750" b="1" i="0">
                <a:solidFill>
                  <a:srgbClr val="D77675"/>
                </a:solidFill>
                <a:latin typeface="Aptos"/>
              </a:rPr>
              <a:t>494</a:t>
            </a:r>
          </a:p>
        </p:txBody>
      </p:sp>
      <p:sp>
        <p:nvSpPr>
          <p:cNvPr id="20" name="TextBox 19"/>
          <p:cNvSpPr txBox="1"/>
          <p:nvPr/>
        </p:nvSpPr>
        <p:spPr>
          <a:xfrm>
            <a:off x="9308592" y="3483864"/>
            <a:ext cx="1700784" cy="210312"/>
          </a:xfrm>
          <a:prstGeom prst="rect">
            <a:avLst/>
          </a:prstGeom>
          <a:noFill/>
        </p:spPr>
        <p:txBody>
          <a:bodyPr wrap="square" lIns="0" tIns="0" rIns="0" bIns="0">
            <a:spAutoFit/>
          </a:bodyPr>
          <a:lstStyle/>
          <a:p>
            <a:pPr algn="l">
              <a:spcBef>
                <a:spcPts val="0"/>
              </a:spcBef>
              <a:spcAft>
                <a:spcPts val="0"/>
              </a:spcAft>
            </a:pPr>
            <a:r>
              <a:rPr sz="1050" b="1" i="0">
                <a:solidFill>
                  <a:srgbClr val="536975"/>
                </a:solidFill>
                <a:latin typeface="Aptos"/>
              </a:rPr>
              <a:t>FALSE POSITIVE</a:t>
            </a:r>
          </a:p>
        </p:txBody>
      </p:sp>
      <p:sp>
        <p:nvSpPr>
          <p:cNvPr id="21" name="Rounded Rectangle 20"/>
          <p:cNvSpPr/>
          <p:nvPr/>
        </p:nvSpPr>
        <p:spPr>
          <a:xfrm>
            <a:off x="7059168" y="4041648"/>
            <a:ext cx="1920240" cy="116128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178040" y="4206240"/>
            <a:ext cx="1664208" cy="429768"/>
          </a:xfrm>
          <a:prstGeom prst="rect">
            <a:avLst/>
          </a:prstGeom>
          <a:noFill/>
        </p:spPr>
        <p:txBody>
          <a:bodyPr wrap="square" lIns="0" tIns="0" rIns="0" bIns="0">
            <a:spAutoFit/>
          </a:bodyPr>
          <a:lstStyle/>
          <a:p>
            <a:pPr algn="l">
              <a:spcBef>
                <a:spcPts val="0"/>
              </a:spcBef>
              <a:spcAft>
                <a:spcPts val="0"/>
              </a:spcAft>
            </a:pPr>
            <a:r>
              <a:rPr sz="2750" b="1" i="0">
                <a:solidFill>
                  <a:srgbClr val="D77675"/>
                </a:solidFill>
                <a:latin typeface="Aptos"/>
              </a:rPr>
              <a:t>29</a:t>
            </a:r>
          </a:p>
        </p:txBody>
      </p:sp>
      <p:sp>
        <p:nvSpPr>
          <p:cNvPr id="23" name="TextBox 22"/>
          <p:cNvSpPr txBox="1"/>
          <p:nvPr/>
        </p:nvSpPr>
        <p:spPr>
          <a:xfrm>
            <a:off x="7178040" y="4800600"/>
            <a:ext cx="1700784" cy="210312"/>
          </a:xfrm>
          <a:prstGeom prst="rect">
            <a:avLst/>
          </a:prstGeom>
          <a:noFill/>
        </p:spPr>
        <p:txBody>
          <a:bodyPr wrap="square" lIns="0" tIns="0" rIns="0" bIns="0">
            <a:spAutoFit/>
          </a:bodyPr>
          <a:lstStyle/>
          <a:p>
            <a:pPr algn="l">
              <a:spcBef>
                <a:spcPts val="0"/>
              </a:spcBef>
              <a:spcAft>
                <a:spcPts val="0"/>
              </a:spcAft>
            </a:pPr>
            <a:r>
              <a:rPr sz="1050" b="1" i="0">
                <a:solidFill>
                  <a:srgbClr val="536975"/>
                </a:solidFill>
                <a:latin typeface="Aptos"/>
              </a:rPr>
              <a:t>FALSE NEGATIVE</a:t>
            </a:r>
          </a:p>
        </p:txBody>
      </p:sp>
      <p:sp>
        <p:nvSpPr>
          <p:cNvPr id="24" name="Rounded Rectangle 23"/>
          <p:cNvSpPr/>
          <p:nvPr/>
        </p:nvSpPr>
        <p:spPr>
          <a:xfrm>
            <a:off x="9189720" y="4041648"/>
            <a:ext cx="1920240" cy="116128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308592" y="4206240"/>
            <a:ext cx="1664208" cy="429768"/>
          </a:xfrm>
          <a:prstGeom prst="rect">
            <a:avLst/>
          </a:prstGeom>
          <a:noFill/>
        </p:spPr>
        <p:txBody>
          <a:bodyPr wrap="square" lIns="0" tIns="0" rIns="0" bIns="0">
            <a:spAutoFit/>
          </a:bodyPr>
          <a:lstStyle/>
          <a:p>
            <a:pPr algn="l">
              <a:spcBef>
                <a:spcPts val="0"/>
              </a:spcBef>
              <a:spcAft>
                <a:spcPts val="0"/>
              </a:spcAft>
            </a:pPr>
            <a:r>
              <a:rPr sz="2750" b="1" i="0">
                <a:solidFill>
                  <a:srgbClr val="2C948B"/>
                </a:solidFill>
                <a:latin typeface="Aptos"/>
              </a:rPr>
              <a:t>329</a:t>
            </a:r>
          </a:p>
        </p:txBody>
      </p:sp>
      <p:sp>
        <p:nvSpPr>
          <p:cNvPr id="26" name="TextBox 25"/>
          <p:cNvSpPr txBox="1"/>
          <p:nvPr/>
        </p:nvSpPr>
        <p:spPr>
          <a:xfrm>
            <a:off x="9308592" y="4800600"/>
            <a:ext cx="1700784" cy="210312"/>
          </a:xfrm>
          <a:prstGeom prst="rect">
            <a:avLst/>
          </a:prstGeom>
          <a:noFill/>
        </p:spPr>
        <p:txBody>
          <a:bodyPr wrap="square" lIns="0" tIns="0" rIns="0" bIns="0">
            <a:spAutoFit/>
          </a:bodyPr>
          <a:lstStyle/>
          <a:p>
            <a:pPr algn="l">
              <a:spcBef>
                <a:spcPts val="0"/>
              </a:spcBef>
              <a:spcAft>
                <a:spcPts val="0"/>
              </a:spcAft>
            </a:pPr>
            <a:r>
              <a:rPr sz="1050" b="1" i="0">
                <a:solidFill>
                  <a:srgbClr val="536975"/>
                </a:solidFill>
                <a:latin typeface="Aptos"/>
              </a:rPr>
              <a:t>TRUE POSITIVE</a:t>
            </a:r>
          </a:p>
        </p:txBody>
      </p:sp>
      <p:sp>
        <p:nvSpPr>
          <p:cNvPr id="27" name="TextBox 26"/>
          <p:cNvSpPr txBox="1"/>
          <p:nvPr/>
        </p:nvSpPr>
        <p:spPr>
          <a:xfrm>
            <a:off x="7077456" y="5394960"/>
            <a:ext cx="3986784" cy="393192"/>
          </a:xfrm>
          <a:prstGeom prst="rect">
            <a:avLst/>
          </a:prstGeom>
          <a:noFill/>
        </p:spPr>
        <p:txBody>
          <a:bodyPr wrap="square" lIns="0" tIns="0" rIns="0" bIns="0">
            <a:spAutoFit/>
          </a:bodyPr>
          <a:lstStyle/>
          <a:p>
            <a:pPr algn="ctr">
              <a:spcBef>
                <a:spcPts val="0"/>
              </a:spcBef>
              <a:spcAft>
                <a:spcPts val="0"/>
              </a:spcAft>
            </a:pPr>
            <a:r>
              <a:rPr sz="1410" b="1" i="0">
                <a:solidFill>
                  <a:srgbClr val="216F6B"/>
                </a:solidFill>
                <a:latin typeface="Aptos"/>
              </a:rPr>
              <a:t>329 found   /   358 total churners</a:t>
            </a:r>
          </a:p>
        </p:txBody>
      </p:sp>
      <p:sp>
        <p:nvSpPr>
          <p:cNvPr id="28" name="TextBox 27"/>
          <p:cNvSpPr txBox="1"/>
          <p:nvPr/>
        </p:nvSpPr>
        <p:spPr>
          <a:xfrm>
            <a:off x="7104888" y="5888736"/>
            <a:ext cx="3913632" cy="219456"/>
          </a:xfrm>
          <a:prstGeom prst="rect">
            <a:avLst/>
          </a:prstGeom>
          <a:noFill/>
        </p:spPr>
        <p:txBody>
          <a:bodyPr wrap="square" lIns="0" tIns="0" rIns="0" bIns="0">
            <a:spAutoFit/>
          </a:bodyPr>
          <a:lstStyle/>
          <a:p>
            <a:pPr algn="ctr">
              <a:spcBef>
                <a:spcPts val="0"/>
              </a:spcBef>
              <a:spcAft>
                <a:spcPts val="0"/>
              </a:spcAft>
            </a:pPr>
            <a:r>
              <a:rPr sz="1000" b="0" i="0">
                <a:solidFill>
                  <a:srgbClr val="536975"/>
                </a:solidFill>
                <a:latin typeface="Aptos"/>
              </a:rPr>
              <a:t>Recall-first strategy ≠ highest accuracy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3ED"/>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2D908A"/>
          </a:solidFill>
          <a:ln w="12700">
            <a:solidFill>
              <a:srgbClr val="2D908A">
                <a:alpha val="0"/>
              </a:srgbClr>
            </a:solidFill>
            <a:prstDash val="solid"/>
          </a:ln>
        </p:spPr>
        <p:txBody>
          <a:bodyPr/>
          <a:lstStyle/>
          <a:p>
            <a:endParaRPr lang="en-AU"/>
          </a:p>
        </p:txBody>
      </p:sp>
      <p:sp>
        <p:nvSpPr>
          <p:cNvPr id="3" name="Text 1"/>
          <p:cNvSpPr/>
          <p:nvPr/>
        </p:nvSpPr>
        <p:spPr>
          <a:xfrm>
            <a:off x="722376" y="448056"/>
            <a:ext cx="8229600" cy="274320"/>
          </a:xfrm>
          <a:prstGeom prst="rect">
            <a:avLst/>
          </a:prstGeom>
          <a:noFill/>
          <a:ln/>
        </p:spPr>
        <p:txBody>
          <a:bodyPr wrap="square" lIns="0" tIns="0" rIns="0" bIns="0" rtlCol="0" anchor="ctr">
            <a:normAutofit/>
          </a:bodyPr>
          <a:lstStyle/>
          <a:p>
            <a:pPr marL="0" indent="0">
              <a:buNone/>
            </a:pPr>
            <a:r>
              <a:rPr lang="en-US" sz="1200" b="1" kern="0" spc="140" dirty="0">
                <a:solidFill>
                  <a:srgbClr val="2D908A"/>
                </a:solidFill>
                <a:latin typeface="Arial" pitchFamily="34" charset="0"/>
                <a:ea typeface="Arial" pitchFamily="34" charset="-122"/>
                <a:cs typeface="Arial" pitchFamily="34" charset="-120"/>
              </a:rPr>
              <a:t>SOURCE MATERIAL</a:t>
            </a:r>
            <a:endParaRPr lang="en-US" sz="1200" dirty="0"/>
          </a:p>
        </p:txBody>
      </p:sp>
      <p:sp>
        <p:nvSpPr>
          <p:cNvPr id="4" name="Text 2"/>
          <p:cNvSpPr/>
          <p:nvPr/>
        </p:nvSpPr>
        <p:spPr>
          <a:xfrm>
            <a:off x="713232" y="859536"/>
            <a:ext cx="10789920" cy="548640"/>
          </a:xfrm>
          <a:prstGeom prst="rect">
            <a:avLst/>
          </a:prstGeom>
          <a:noFill/>
          <a:ln/>
        </p:spPr>
        <p:txBody>
          <a:bodyPr wrap="square" lIns="0" tIns="0" rIns="0" bIns="0" rtlCol="0" anchor="ctr">
            <a:normAutofit/>
          </a:bodyPr>
          <a:lstStyle/>
          <a:p>
            <a:pPr marL="0" indent="0">
              <a:buNone/>
            </a:pPr>
            <a:r>
              <a:rPr lang="en-US" sz="2900" b="1" dirty="0">
                <a:solidFill>
                  <a:srgbClr val="203746"/>
                </a:solidFill>
                <a:latin typeface="Arial" pitchFamily="34" charset="0"/>
                <a:ea typeface="Arial" pitchFamily="34" charset="-122"/>
                <a:cs typeface="Arial" pitchFamily="34" charset="-120"/>
              </a:rPr>
              <a:t>References and project provenance</a:t>
            </a:r>
            <a:endParaRPr lang="en-US" sz="2900" dirty="0"/>
          </a:p>
        </p:txBody>
      </p:sp>
      <p:sp>
        <p:nvSpPr>
          <p:cNvPr id="5" name="Shape 3"/>
          <p:cNvSpPr/>
          <p:nvPr/>
        </p:nvSpPr>
        <p:spPr>
          <a:xfrm>
            <a:off x="713232" y="1517904"/>
            <a:ext cx="10762488" cy="15545"/>
          </a:xfrm>
          <a:prstGeom prst="rect">
            <a:avLst/>
          </a:prstGeom>
          <a:solidFill>
            <a:srgbClr val="CBD7D3"/>
          </a:solidFill>
          <a:ln w="12700">
            <a:solidFill>
              <a:srgbClr val="CBD7D3">
                <a:alpha val="0"/>
              </a:srgbClr>
            </a:solidFill>
            <a:prstDash val="solid"/>
          </a:ln>
        </p:spPr>
        <p:txBody>
          <a:bodyPr/>
          <a:lstStyle/>
          <a:p>
            <a:endParaRPr lang="en-AU"/>
          </a:p>
        </p:txBody>
      </p:sp>
      <p:sp>
        <p:nvSpPr>
          <p:cNvPr id="6" name="Text 4"/>
          <p:cNvSpPr/>
          <p:nvPr/>
        </p:nvSpPr>
        <p:spPr>
          <a:xfrm>
            <a:off x="832104" y="1810512"/>
            <a:ext cx="4846320" cy="274320"/>
          </a:xfrm>
          <a:prstGeom prst="rect">
            <a:avLst/>
          </a:prstGeom>
          <a:noFill/>
          <a:ln/>
        </p:spPr>
        <p:txBody>
          <a:bodyPr wrap="square" lIns="0" tIns="0" rIns="0" bIns="0" rtlCol="0" anchor="ctr">
            <a:normAutofit/>
          </a:bodyPr>
          <a:lstStyle/>
          <a:p>
            <a:pPr marL="0" indent="0">
              <a:buNone/>
            </a:pPr>
            <a:r>
              <a:rPr lang="en-US" sz="1200" b="1" kern="0" spc="110" dirty="0">
                <a:solidFill>
                  <a:srgbClr val="2D908A"/>
                </a:solidFill>
                <a:latin typeface="Arial" pitchFamily="34" charset="0"/>
                <a:ea typeface="Arial" pitchFamily="34" charset="-122"/>
                <a:cs typeface="Arial" pitchFamily="34" charset="-120"/>
              </a:rPr>
              <a:t>PRIMARY DATA + OUTPUTS</a:t>
            </a:r>
            <a:endParaRPr lang="en-US" sz="1200" dirty="0"/>
          </a:p>
        </p:txBody>
      </p:sp>
      <p:sp>
        <p:nvSpPr>
          <p:cNvPr id="7" name="Text 5"/>
          <p:cNvSpPr/>
          <p:nvPr/>
        </p:nvSpPr>
        <p:spPr>
          <a:xfrm>
            <a:off x="6400800" y="1810512"/>
            <a:ext cx="4937760" cy="274320"/>
          </a:xfrm>
          <a:prstGeom prst="rect">
            <a:avLst/>
          </a:prstGeom>
          <a:noFill/>
          <a:ln/>
        </p:spPr>
        <p:txBody>
          <a:bodyPr wrap="square" lIns="0" tIns="0" rIns="0" bIns="0" rtlCol="0" anchor="ctr">
            <a:normAutofit/>
          </a:bodyPr>
          <a:lstStyle/>
          <a:p>
            <a:pPr marL="0" indent="0">
              <a:buNone/>
            </a:pPr>
            <a:endParaRPr lang="en-US" sz="1200" dirty="0"/>
          </a:p>
        </p:txBody>
      </p:sp>
      <p:sp>
        <p:nvSpPr>
          <p:cNvPr id="8" name="Shape 6"/>
          <p:cNvSpPr/>
          <p:nvPr/>
        </p:nvSpPr>
        <p:spPr>
          <a:xfrm>
            <a:off x="749808" y="2212848"/>
            <a:ext cx="5212080" cy="3364992"/>
          </a:xfrm>
          <a:prstGeom prst="roundRect">
            <a:avLst>
              <a:gd name="adj" fmla="val 4891"/>
            </a:avLst>
          </a:prstGeom>
          <a:solidFill>
            <a:srgbClr val="EBF2EE"/>
          </a:solidFill>
          <a:ln w="12700">
            <a:solidFill>
              <a:srgbClr val="EBF2EE">
                <a:alpha val="0"/>
              </a:srgbClr>
            </a:solidFill>
            <a:prstDash val="solid"/>
          </a:ln>
        </p:spPr>
        <p:txBody>
          <a:bodyPr/>
          <a:lstStyle/>
          <a:p>
            <a:endParaRPr lang="en-AU"/>
          </a:p>
        </p:txBody>
      </p:sp>
      <p:sp>
        <p:nvSpPr>
          <p:cNvPr id="9" name="Shape 7"/>
          <p:cNvSpPr/>
          <p:nvPr/>
        </p:nvSpPr>
        <p:spPr>
          <a:xfrm>
            <a:off x="6291072" y="2212848"/>
            <a:ext cx="5166360" cy="3364992"/>
          </a:xfrm>
          <a:prstGeom prst="roundRect">
            <a:avLst>
              <a:gd name="adj" fmla="val 4891"/>
            </a:avLst>
          </a:prstGeom>
          <a:solidFill>
            <a:srgbClr val="EBF2EE"/>
          </a:solidFill>
          <a:ln w="12700">
            <a:solidFill>
              <a:srgbClr val="EBF2EE">
                <a:alpha val="0"/>
              </a:srgbClr>
            </a:solidFill>
            <a:prstDash val="solid"/>
          </a:ln>
        </p:spPr>
        <p:txBody>
          <a:bodyPr/>
          <a:lstStyle/>
          <a:p>
            <a:endParaRPr lang="en-AU"/>
          </a:p>
        </p:txBody>
      </p:sp>
      <p:sp>
        <p:nvSpPr>
          <p:cNvPr id="10" name="Text 8"/>
          <p:cNvSpPr/>
          <p:nvPr/>
        </p:nvSpPr>
        <p:spPr>
          <a:xfrm>
            <a:off x="996696" y="2496312"/>
            <a:ext cx="4690872" cy="2944368"/>
          </a:xfrm>
          <a:prstGeom prst="rect">
            <a:avLst/>
          </a:prstGeom>
          <a:noFill/>
          <a:ln/>
        </p:spPr>
        <p:txBody>
          <a:bodyPr wrap="square" lIns="0" tIns="0" rIns="0" bIns="0" rtlCol="0" anchor="t">
            <a:normAutofit/>
          </a:bodyPr>
          <a:lstStyle/>
          <a:p>
            <a:pPr marL="0" indent="0">
              <a:buNone/>
            </a:pPr>
            <a:r>
              <a:rPr lang="en-US" sz="1430" dirty="0">
                <a:solidFill>
                  <a:srgbClr val="203746"/>
                </a:solidFill>
                <a:latin typeface="Arial" pitchFamily="34" charset="0"/>
                <a:ea typeface="Arial" pitchFamily="34" charset="-122"/>
                <a:cs typeface="Arial" pitchFamily="34" charset="-120"/>
              </a:rPr>
              <a:t>Goreja, A. (n.d.) Stage_2_Deliverables [GitHub repository].</a:t>
            </a:r>
            <a:endParaRPr lang="en-US" sz="1430" dirty="0"/>
          </a:p>
          <a:p>
            <a:pPr marL="0" indent="0">
              <a:buNone/>
            </a:pPr>
            <a:r>
              <a:rPr lang="en-US" sz="1430" dirty="0">
                <a:solidFill>
                  <a:srgbClr val="203746"/>
                </a:solidFill>
                <a:latin typeface="Arial" pitchFamily="34" charset="0"/>
                <a:ea typeface="Arial" pitchFamily="34" charset="-122"/>
                <a:cs typeface="Arial" pitchFamily="34" charset="-120"/>
              </a:rPr>
              <a:t>https://github.com/aadeshgoreja/Stage_2_Deliverables</a:t>
            </a:r>
            <a:endParaRPr lang="en-US" sz="1430" dirty="0"/>
          </a:p>
          <a:p>
            <a:pPr marL="0" indent="0">
              <a:buNone/>
            </a:pPr>
            <a:endParaRPr lang="en-US" sz="1430" dirty="0"/>
          </a:p>
          <a:p>
            <a:pPr marL="0" indent="0">
              <a:buNone/>
            </a:pPr>
            <a:r>
              <a:rPr lang="en-US" sz="1430" dirty="0">
                <a:solidFill>
                  <a:srgbClr val="203746"/>
                </a:solidFill>
                <a:latin typeface="Arial" pitchFamily="34" charset="0"/>
                <a:ea typeface="Arial" pitchFamily="34" charset="-122"/>
                <a:cs typeface="Arial" pitchFamily="34" charset="-120"/>
              </a:rPr>
              <a:t>Customer Churn ANN Project (2026) Results package:</a:t>
            </a:r>
            <a:endParaRPr lang="en-US" sz="1430" dirty="0"/>
          </a:p>
          <a:p>
            <a:pPr marL="0" indent="0">
              <a:buNone/>
            </a:pPr>
            <a:r>
              <a:rPr lang="en-US" sz="1430" dirty="0">
                <a:solidFill>
                  <a:srgbClr val="203746"/>
                </a:solidFill>
                <a:latin typeface="Arial" pitchFamily="34" charset="0"/>
                <a:ea typeface="Arial" pitchFamily="34" charset="-122"/>
                <a:cs typeface="Arial" pitchFamily="34" charset="-120"/>
              </a:rPr>
              <a:t>metrics.json; model_scores.csv; ann_training_history.json.</a:t>
            </a:r>
            <a:endParaRPr lang="en-US" sz="1430" dirty="0"/>
          </a:p>
          <a:p>
            <a:pPr marL="0" indent="0">
              <a:buNone/>
            </a:pPr>
            <a:endParaRPr lang="en-US" sz="1430" dirty="0"/>
          </a:p>
          <a:p>
            <a:pPr marL="0" indent="0">
              <a:buNone/>
            </a:pPr>
            <a:r>
              <a:rPr lang="en-US" sz="1430" dirty="0">
                <a:solidFill>
                  <a:srgbClr val="203746"/>
                </a:solidFill>
                <a:latin typeface="Arial" pitchFamily="34" charset="0"/>
                <a:ea typeface="Arial" pitchFamily="34" charset="-122"/>
                <a:cs typeface="Arial" pitchFamily="34" charset="-120"/>
              </a:rPr>
              <a:t>Source dataset: cleaned_full_dataset.csv (6,741 rows).</a:t>
            </a:r>
            <a:endParaRPr lang="en-US" sz="1430" dirty="0"/>
          </a:p>
        </p:txBody>
      </p:sp>
      <p:sp>
        <p:nvSpPr>
          <p:cNvPr id="11" name="Text 9"/>
          <p:cNvSpPr/>
          <p:nvPr/>
        </p:nvSpPr>
        <p:spPr>
          <a:xfrm>
            <a:off x="6510528" y="2496312"/>
            <a:ext cx="4700016" cy="2990088"/>
          </a:xfrm>
          <a:prstGeom prst="rect">
            <a:avLst/>
          </a:prstGeom>
          <a:noFill/>
          <a:ln/>
        </p:spPr>
        <p:txBody>
          <a:bodyPr wrap="square" lIns="0" tIns="0" rIns="0" bIns="0" rtlCol="0" anchor="t">
            <a:normAutofit/>
          </a:bodyPr>
          <a:lstStyle/>
          <a:p>
            <a:pPr marL="0" indent="0">
              <a:buNone/>
            </a:pPr>
            <a:endParaRPr lang="en-US" sz="1365" dirty="0"/>
          </a:p>
        </p:txBody>
      </p:sp>
      <p:sp>
        <p:nvSpPr>
          <p:cNvPr id="12" name="Text 10"/>
          <p:cNvSpPr/>
          <p:nvPr/>
        </p:nvSpPr>
        <p:spPr>
          <a:xfrm>
            <a:off x="905256" y="5843016"/>
            <a:ext cx="10378440" cy="329184"/>
          </a:xfrm>
          <a:prstGeom prst="rect">
            <a:avLst/>
          </a:prstGeom>
          <a:noFill/>
          <a:ln/>
        </p:spPr>
        <p:txBody>
          <a:bodyPr wrap="square" lIns="0" tIns="0" rIns="0" bIns="0" rtlCol="0" anchor="ctr">
            <a:normAutofit/>
          </a:bodyPr>
          <a:lstStyle/>
          <a:p>
            <a:pPr marL="0" indent="0" algn="ctr">
              <a:buNone/>
            </a:pPr>
            <a:r>
              <a:rPr lang="en-US" sz="1300" i="1" dirty="0">
                <a:solidFill>
                  <a:srgbClr val="61767D"/>
                </a:solidFill>
                <a:latin typeface="Arial" pitchFamily="34" charset="0"/>
                <a:ea typeface="Arial" pitchFamily="34" charset="-122"/>
                <a:cs typeface="Arial" pitchFamily="34" charset="-120"/>
              </a:rPr>
              <a:t>All numerical charts and comparative scores are drawn from the submitted project outputs.</a:t>
            </a:r>
            <a:endParaRPr lang="en-US" sz="1300" dirty="0"/>
          </a:p>
        </p:txBody>
      </p:sp>
      <p:sp>
        <p:nvSpPr>
          <p:cNvPr id="13" name="Shape 11"/>
          <p:cNvSpPr/>
          <p:nvPr/>
        </p:nvSpPr>
        <p:spPr>
          <a:xfrm>
            <a:off x="667512" y="6455664"/>
            <a:ext cx="10835640" cy="0"/>
          </a:xfrm>
          <a:prstGeom prst="line">
            <a:avLst/>
          </a:prstGeom>
          <a:noFill/>
          <a:ln w="10160">
            <a:solidFill>
              <a:srgbClr val="CBD7D3"/>
            </a:solidFill>
            <a:prstDash val="solid"/>
          </a:ln>
        </p:spPr>
        <p:txBody>
          <a:bodyPr/>
          <a:lstStyle/>
          <a:p>
            <a:endParaRPr lang="en-AU"/>
          </a:p>
        </p:txBody>
      </p:sp>
      <p:sp>
        <p:nvSpPr>
          <p:cNvPr id="14" name="Text 12"/>
          <p:cNvSpPr/>
          <p:nvPr/>
        </p:nvSpPr>
        <p:spPr>
          <a:xfrm>
            <a:off x="676656" y="6537960"/>
            <a:ext cx="10012680" cy="155448"/>
          </a:xfrm>
          <a:prstGeom prst="rect">
            <a:avLst/>
          </a:prstGeom>
          <a:noFill/>
          <a:ln/>
        </p:spPr>
        <p:txBody>
          <a:bodyPr wrap="square" lIns="0" tIns="0" rIns="0" bIns="0" rtlCol="0" anchor="ctr">
            <a:normAutofit/>
          </a:bodyPr>
          <a:lstStyle/>
          <a:p>
            <a:pPr marL="0" indent="0">
              <a:buNone/>
            </a:pPr>
            <a:r>
              <a:rPr lang="en-US" sz="915" dirty="0">
                <a:solidFill>
                  <a:srgbClr val="61767D"/>
                </a:solidFill>
                <a:latin typeface="Arial" pitchFamily="34" charset="0"/>
                <a:ea typeface="Arial" pitchFamily="34" charset="-122"/>
                <a:cs typeface="Arial" pitchFamily="34" charset="-120"/>
              </a:rPr>
              <a:t>Project source repository and official Keras / scikit-learn documentation.</a:t>
            </a:r>
            <a:endParaRPr lang="en-US" sz="915" dirty="0"/>
          </a:p>
        </p:txBody>
      </p:sp>
      <p:sp>
        <p:nvSpPr>
          <p:cNvPr id="15" name="Text 13"/>
          <p:cNvSpPr/>
          <p:nvPr/>
        </p:nvSpPr>
        <p:spPr>
          <a:xfrm>
            <a:off x="11027664" y="6510528"/>
            <a:ext cx="411480" cy="201168"/>
          </a:xfrm>
          <a:prstGeom prst="rect">
            <a:avLst/>
          </a:prstGeom>
          <a:noFill/>
          <a:ln/>
        </p:spPr>
        <p:txBody>
          <a:bodyPr wrap="square" lIns="0" tIns="0" rIns="0" bIns="0" rtlCol="0" anchor="ctr">
            <a:normAutofit/>
          </a:bodyPr>
          <a:lstStyle/>
          <a:p>
            <a:pPr marL="0" indent="0" algn="r">
              <a:buNone/>
            </a:pPr>
            <a:r>
              <a:rPr lang="en-US" sz="1100" b="1" dirty="0">
                <a:solidFill>
                  <a:srgbClr val="2D908A"/>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TotalTime>
  <Words>1282</Words>
  <Application>Microsoft Office PowerPoint</Application>
  <PresentationFormat>Widescreen</PresentationFormat>
  <Paragraphs>159</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Analytics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Churn Prediction | ANN Results</dc:title>
  <dc:subject>Customer churn ANN results and methodology</dc:subject>
  <dc:creator>Microsoft</dc:creator>
  <cp:lastModifiedBy>basant kumar</cp:lastModifiedBy>
  <cp:revision>2</cp:revision>
  <dcterms:created xsi:type="dcterms:W3CDTF">2026-10-15T09:38:26Z</dcterms:created>
  <dcterms:modified xsi:type="dcterms:W3CDTF">2026-10-25T04:50:26Z</dcterms:modified>
</cp:coreProperties>
</file>