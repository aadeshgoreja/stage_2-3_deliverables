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38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371/journal.pone.0118432" TargetMode="External"/><Relationship Id="rId3" Type="http://schemas.openxmlformats.org/officeDocument/2006/relationships/hyperlink" Target="https://github.com/aadeshgoreja/Stage_2_Deliverables" TargetMode="External"/><Relationship Id="rId7" Type="http://schemas.openxmlformats.org/officeDocument/2006/relationships/hyperlink" Target="https://jmlr.org/papers/v12/pedregosa11a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patrec.2005.10.010" TargetMode="External"/><Relationship Id="rId5" Type="http://schemas.openxmlformats.org/officeDocument/2006/relationships/hyperlink" Target="https://arxiv.org/abs/1412.6980" TargetMode="External"/><Relationship Id="rId4" Type="http://schemas.openxmlformats.org/officeDocument/2006/relationships/hyperlink" Target="https://keras.io/api/models/model_training_apis/" TargetMode="External"/><Relationship Id="rId9" Type="http://schemas.openxmlformats.org/officeDocument/2006/relationships/hyperlink" Target="https://scikit-learn.org/stable/modules/model_evalu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1389888"/>
            <a:ext cx="100584" cy="3017520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645920"/>
            <a:ext cx="10003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252728" y="2542032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Analyst Presentation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243584" y="3246120"/>
            <a:ext cx="8339328" cy="15545"/>
          </a:xfrm>
          <a:prstGeom prst="rect">
            <a:avLst/>
          </a:prstGeom>
          <a:solidFill>
            <a:srgbClr val="C5DBD5"/>
          </a:solidFill>
          <a:ln w="8255">
            <a:solidFill>
              <a:srgbClr val="C5D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3547872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 · Predictive Modelling · Retention Strategy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252728" y="593445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summary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SECTIONS 1–3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Summary, Business Problem and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churn prediction matters to the telecommunications business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1591056"/>
            <a:ext cx="5641848" cy="4590288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" y="2167128"/>
            <a:ext cx="52943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dataset covers 6,741 customer records.</a:t>
            </a: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Overall observed churn is 26.57%.</a:t>
            </a: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Customer attrition reduces recurring revenue.</a:t>
            </a: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analysis identifies four customer segments.</a:t>
            </a: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goal is targeted, early retention contact.</a:t>
            </a: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endParaRPr lang="en-US" sz="174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Prediction supports decisions rather than replacing them.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6473952" y="1929384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929384"/>
            <a:ext cx="68580" cy="1005840"/>
          </a:xfrm>
          <a:prstGeom prst="rect">
            <a:avLst/>
          </a:prstGeom>
          <a:solidFill>
            <a:srgbClr val="152F43"/>
          </a:solidFill>
          <a:ln w="8255">
            <a:solidFill>
              <a:srgbClr val="152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2084832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6,741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47688" y="256946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34272" y="1929384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1929384"/>
            <a:ext cx="68580" cy="1005840"/>
          </a:xfrm>
          <a:prstGeom prst="rect">
            <a:avLst/>
          </a:prstGeom>
          <a:solidFill>
            <a:srgbClr val="D27558"/>
          </a:solidFill>
          <a:ln w="8255">
            <a:solidFill>
              <a:srgbClr val="D275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084832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D27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26.57%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08008" y="256946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churn rate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3136392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136392"/>
            <a:ext cx="68580" cy="1005840"/>
          </a:xfrm>
          <a:prstGeom prst="rect">
            <a:avLst/>
          </a:prstGeom>
          <a:solidFill>
            <a:srgbClr val="4D83B0"/>
          </a:solidFill>
          <a:ln w="8255">
            <a:solidFill>
              <a:srgbClr val="4D83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291840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4D8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47688" y="377647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clusters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34272" y="3136392"/>
            <a:ext cx="24048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3136392"/>
            <a:ext cx="68580" cy="1005840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3291840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91.90%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08008" y="377647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test recall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73952" y="4617720"/>
            <a:ext cx="4956048" cy="1152144"/>
          </a:xfrm>
          <a:prstGeom prst="roundRect">
            <a:avLst>
              <a:gd name="adj" fmla="val 8730"/>
            </a:avLst>
          </a:prstGeom>
          <a:solidFill>
            <a:srgbClr val="DDEEEB"/>
          </a:solidFill>
          <a:ln w="8255">
            <a:solidFill>
              <a:srgbClr val="DDEE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4782312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aim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57416" y="515721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high-risk customers and test cost-effective retention offers.</a:t>
            </a:r>
            <a:endParaRPr lang="en-US" sz="1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SECTIONS 4–6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Role, Data Preparation and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separation of exploratory clusters and model testing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545336"/>
            <a:ext cx="5696712" cy="4764024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5349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Twelve encoded predictors describe customer profiles.</a:t>
            </a: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analyst translates results into business action.</a:t>
            </a: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Training data contains 4,313 customer records.</a:t>
            </a: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Validation data contains 1,079 customer records.</a:t>
            </a: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held-out test set contains 1,349 records.</a:t>
            </a: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endParaRPr lang="en-US" sz="166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New K-Means clustering is fitted to training data only.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6382512" y="1719072"/>
            <a:ext cx="5193792" cy="2971800"/>
          </a:xfrm>
          <a:prstGeom prst="roundRect">
            <a:avLst>
              <a:gd name="adj" fmla="val 3385"/>
            </a:avLst>
          </a:prstGeom>
          <a:solidFill>
            <a:srgbClr val="FFFFFF"/>
          </a:solidFill>
          <a:ln w="8255">
            <a:solidFill>
              <a:srgbClr val="DBE6E2"/>
            </a:solidFill>
            <a:prstDash val="solid"/>
          </a:ln>
        </p:spPr>
      </p:sp>
      <p:pic>
        <p:nvPicPr>
          <p:cNvPr id="14" name="Image 0" descr="/mnt/data/3f02c3a8-84cb-4ac2-b0c7-cd49363317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73936"/>
            <a:ext cx="5084064" cy="2862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37376" y="4782312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supplied Tableau-style visual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19088" y="5020056"/>
            <a:ext cx="512978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92824" y="514807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TRAIN / VALIDATION / TEST SPLIT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74536" y="5449824"/>
            <a:ext cx="2916936" cy="420624"/>
          </a:xfrm>
          <a:prstGeom prst="rect">
            <a:avLst/>
          </a:prstGeom>
          <a:solidFill>
            <a:srgbClr val="152F43"/>
          </a:solidFill>
          <a:ln w="8255">
            <a:solidFill>
              <a:srgbClr val="152F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824" y="5532120"/>
            <a:ext cx="2880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 TRAIN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491472" y="5449824"/>
            <a:ext cx="941832" cy="42062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0" y="5532120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 VAL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0433304" y="5449824"/>
            <a:ext cx="941832" cy="420624"/>
          </a:xfrm>
          <a:prstGeom prst="rect">
            <a:avLst/>
          </a:prstGeom>
          <a:solidFill>
            <a:srgbClr val="E9AC63"/>
          </a:solidFill>
          <a:ln w="8255">
            <a:solidFill>
              <a:srgbClr val="E9AC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51592" y="5532120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TEST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SECTIONS 7 AND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Findings and Factors Linked to Churn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segment differences are visible in the supplied Tableau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" y="1554480"/>
            <a:ext cx="5614416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8096" y="2130552"/>
            <a:ext cx="526694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Cluster 0 has 1,589 customers and 24.80% churn.</a:t>
            </a: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Cluster 1 has 1,124 customers and 4.80% churn.</a:t>
            </a: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Cluster 2 has 1,882 customers and 15.67% churn.</a:t>
            </a: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Cluster 3 has 2,146 customers and 48.84% churn.</a:t>
            </a: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Tenure, charges and contracts mark risk patterns.</a:t>
            </a: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endParaRPr lang="en-US" sz="1645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45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These associations do not establish direct causes.</a:t>
            </a:r>
            <a:endParaRPr lang="en-US" sz="1645" dirty="0"/>
          </a:p>
        </p:txBody>
      </p:sp>
      <p:sp>
        <p:nvSpPr>
          <p:cNvPr id="13" name="Shape 11"/>
          <p:cNvSpPr/>
          <p:nvPr/>
        </p:nvSpPr>
        <p:spPr>
          <a:xfrm>
            <a:off x="6391656" y="1719072"/>
            <a:ext cx="5175504" cy="2980944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8255">
            <a:solidFill>
              <a:srgbClr val="DBE6E2"/>
            </a:solidFill>
            <a:prstDash val="solid"/>
          </a:ln>
        </p:spPr>
      </p:sp>
      <p:pic>
        <p:nvPicPr>
          <p:cNvPr id="14" name="Image 0" descr="/mnt/data/78008af6-532d-427c-b1cc-c43aeef22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73936"/>
            <a:ext cx="5065776" cy="28712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4791456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supplied Tableau-style visual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19088" y="5010912"/>
            <a:ext cx="5120640" cy="1014984"/>
          </a:xfrm>
          <a:prstGeom prst="roundRect">
            <a:avLst>
              <a:gd name="adj" fmla="val 9910"/>
            </a:avLst>
          </a:prstGeom>
          <a:solidFill>
            <a:srgbClr val="F7E6E2"/>
          </a:solidFill>
          <a:ln w="8255">
            <a:solidFill>
              <a:srgbClr val="F7E6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84264" y="5157216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27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RISK SEGMENT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84264" y="5477256"/>
            <a:ext cx="4535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3   ·   48.84% churn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Predictive Modelling and Performance Scores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scores are from the held-out test set at validation-selected thresholds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" y="1536192"/>
            <a:ext cx="5513832" cy="471830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0664" y="2112264"/>
            <a:ext cx="5166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ANN was selected using validation PR-AUC.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ANN recall reached 91.90% on test customers.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ANN ROC-AUC was 0.810 and PR-AUC was 0.587.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ANN F1 reached 0.557 at the chosen threshold.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Logistic regression slightly led on test scores.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High recall came with many false positive alerts.</a:t>
            </a:r>
            <a:endParaRPr lang="en-US" sz="1670" dirty="0"/>
          </a:p>
        </p:txBody>
      </p:sp>
      <p:sp>
        <p:nvSpPr>
          <p:cNvPr id="13" name="Shape 11"/>
          <p:cNvSpPr/>
          <p:nvPr/>
        </p:nvSpPr>
        <p:spPr>
          <a:xfrm>
            <a:off x="6318504" y="1773936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0195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SCORECARD  ·  INDEPENDENT 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83096" y="2286000"/>
            <a:ext cx="5129784" cy="521208"/>
          </a:xfrm>
          <a:prstGeom prst="roundRect">
            <a:avLst>
              <a:gd name="adj" fmla="val 3509"/>
            </a:avLst>
          </a:prstGeom>
          <a:solidFill>
            <a:srgbClr val="152F43"/>
          </a:solidFill>
          <a:ln w="8255">
            <a:solidFill>
              <a:srgbClr val="152F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4140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488936" y="241401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29016" y="24140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59952" y="24140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63456" y="24140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86416" y="241401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17936" y="241401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83096" y="2852928"/>
            <a:ext cx="5129784" cy="612648"/>
          </a:xfrm>
          <a:prstGeom prst="roundRect">
            <a:avLst>
              <a:gd name="adj" fmla="val 2239"/>
            </a:avLst>
          </a:prstGeom>
          <a:solidFill>
            <a:srgbClr val="D9EFE9"/>
          </a:solidFill>
          <a:ln w="8255">
            <a:solidFill>
              <a:srgbClr val="E0E7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026664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3508" y="30266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0.810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133588" y="302666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0.587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764524" y="3026664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0.557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9368028" y="3026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91.9%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190988" y="3026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922508" y="3026664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61.2%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83096" y="3529584"/>
            <a:ext cx="5129784" cy="612648"/>
          </a:xfrm>
          <a:prstGeom prst="roundRect">
            <a:avLst>
              <a:gd name="adj" fmla="val 2239"/>
            </a:avLst>
          </a:prstGeom>
          <a:solidFill>
            <a:srgbClr val="F6F8F5"/>
          </a:solidFill>
          <a:ln w="8255">
            <a:solidFill>
              <a:srgbClr val="E0E7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5956" y="37033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3508" y="37033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133588" y="37033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0.596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764524" y="3703320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0.561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9368028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92.7%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10190988" y="3703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40.2%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10922508" y="370332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61.5%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83096" y="4206240"/>
            <a:ext cx="5129784" cy="61264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8255">
            <a:solidFill>
              <a:srgbClr val="E0E7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5956" y="437997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3508" y="43799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0.789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133588" y="437997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0.542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8764524" y="4379976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0.530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368028" y="43799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90.2%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10190988" y="43799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37.5%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10922508" y="4379976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57.5%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483096" y="5010912"/>
            <a:ext cx="4983480" cy="850392"/>
          </a:xfrm>
          <a:prstGeom prst="roundRect">
            <a:avLst>
              <a:gd name="adj" fmla="val 12903"/>
            </a:avLst>
          </a:prstGeom>
          <a:solidFill>
            <a:srgbClr val="DDEEEB"/>
          </a:solidFill>
          <a:ln w="8255">
            <a:solidFill>
              <a:srgbClr val="DDEE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51663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329 / 358 actual churners detected by ANN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675120" y="5586984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Trade-off: 494 non-churners were also flagged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SECTIONS 10–11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Strategy, Implementation Roadmap and KPIs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the predicted risk to targeted, measurable retention programmes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563624"/>
            <a:ext cx="5614416" cy="471830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139696"/>
            <a:ext cx="526694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Prioritise Cluster 3 for proactive outreach.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Test affordable options for price-sensitive groups.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Protect the stable Cluster 1 customer base.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Rank contact lists using model risk estimates.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Run a controlled pilot before wider rollout.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Track churn uplift, campaign costs and recall.</a:t>
            </a:r>
            <a:endParaRPr lang="en-US" sz="1670" dirty="0"/>
          </a:p>
        </p:txBody>
      </p:sp>
      <p:sp>
        <p:nvSpPr>
          <p:cNvPr id="13" name="Shape 11"/>
          <p:cNvSpPr/>
          <p:nvPr/>
        </p:nvSpPr>
        <p:spPr>
          <a:xfrm>
            <a:off x="6364224" y="1792224"/>
            <a:ext cx="5111496" cy="4325112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20240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SEGMENT-FOCUSED INTERVENTION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47104" y="2221992"/>
            <a:ext cx="4745736" cy="603504"/>
          </a:xfrm>
          <a:prstGeom prst="roundRect">
            <a:avLst>
              <a:gd name="adj" fmla="val 13636"/>
            </a:avLst>
          </a:prstGeom>
          <a:solidFill>
            <a:srgbClr val="F7F9F6"/>
          </a:solidFill>
          <a:ln w="8255">
            <a:solidFill>
              <a:srgbClr val="DFE7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221992"/>
            <a:ext cx="96012" cy="603504"/>
          </a:xfrm>
          <a:prstGeom prst="rect">
            <a:avLst/>
          </a:prstGeom>
          <a:solidFill>
            <a:srgbClr val="D27558"/>
          </a:solidFill>
          <a:ln w="8255">
            <a:solidFill>
              <a:srgbClr val="D275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37744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3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8302752" y="2377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D27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retention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6547104" y="2926080"/>
            <a:ext cx="4745736" cy="603504"/>
          </a:xfrm>
          <a:prstGeom prst="roundRect">
            <a:avLst>
              <a:gd name="adj" fmla="val 13636"/>
            </a:avLst>
          </a:prstGeom>
          <a:solidFill>
            <a:srgbClr val="F7F9F6"/>
          </a:solidFill>
          <a:ln w="8255">
            <a:solidFill>
              <a:srgbClr val="DF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2926080"/>
            <a:ext cx="96012" cy="603504"/>
          </a:xfrm>
          <a:prstGeom prst="rect">
            <a:avLst/>
          </a:prstGeom>
          <a:solidFill>
            <a:srgbClr val="E9AC63"/>
          </a:solidFill>
          <a:ln w="8255">
            <a:solidFill>
              <a:srgbClr val="E9AC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08152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0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8302752" y="30815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E9A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 plans</a:t>
            </a:r>
            <a:endParaRPr lang="en-US" sz="1360" dirty="0"/>
          </a:p>
        </p:txBody>
      </p:sp>
      <p:sp>
        <p:nvSpPr>
          <p:cNvPr id="23" name="Shape 21"/>
          <p:cNvSpPr/>
          <p:nvPr/>
        </p:nvSpPr>
        <p:spPr>
          <a:xfrm>
            <a:off x="6547104" y="3630168"/>
            <a:ext cx="4745736" cy="603504"/>
          </a:xfrm>
          <a:prstGeom prst="roundRect">
            <a:avLst>
              <a:gd name="adj" fmla="val 13636"/>
            </a:avLst>
          </a:prstGeom>
          <a:solidFill>
            <a:srgbClr val="F7F9F6"/>
          </a:solidFill>
          <a:ln w="8255">
            <a:solidFill>
              <a:srgbClr val="DFE7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47104" y="3630168"/>
            <a:ext cx="96012" cy="603504"/>
          </a:xfrm>
          <a:prstGeom prst="rect">
            <a:avLst/>
          </a:prstGeom>
          <a:solidFill>
            <a:srgbClr val="4D83B0"/>
          </a:solidFill>
          <a:ln w="8255">
            <a:solidFill>
              <a:srgbClr val="4D83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78561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2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8302752" y="37856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4D8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and service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6547104" y="4334256"/>
            <a:ext cx="4745736" cy="603504"/>
          </a:xfrm>
          <a:prstGeom prst="roundRect">
            <a:avLst>
              <a:gd name="adj" fmla="val 13636"/>
            </a:avLst>
          </a:prstGeom>
          <a:solidFill>
            <a:srgbClr val="F7F9F6"/>
          </a:solidFill>
          <a:ln w="8255">
            <a:solidFill>
              <a:srgbClr val="DFE7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4334256"/>
            <a:ext cx="96012" cy="6035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48970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1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8302752" y="44897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 maintenance</a:t>
            </a:r>
            <a:endParaRPr lang="en-US" sz="1360" dirty="0"/>
          </a:p>
        </p:txBody>
      </p:sp>
      <p:sp>
        <p:nvSpPr>
          <p:cNvPr id="31" name="Text 29"/>
          <p:cNvSpPr/>
          <p:nvPr/>
        </p:nvSpPr>
        <p:spPr>
          <a:xfrm>
            <a:off x="6583680" y="5276088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TIMELINE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74536" y="5577840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152F43"/>
          </a:solidFill>
          <a:ln w="8255">
            <a:solidFill>
              <a:srgbClr val="152F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567842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 Design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8129016" y="5577840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567842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 Pilot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9683496" y="5577840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E9AC63"/>
          </a:solidFill>
          <a:ln w="8255">
            <a:solidFill>
              <a:srgbClr val="E9AC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10928" y="567842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 Review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SECTIONS 12–14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Limitations, Future Improvements and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interpretation and next steps for the business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5678424" cy="4764024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8255">
            <a:solidFill>
              <a:srgbClr val="E0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130552"/>
            <a:ext cx="5330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Historical data does not capture live behaviour.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Available variables omit complaints and outages.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High ANN recall creates substantial false alarms.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Cluster profiles need business validation.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Future work should test costs and thresholds.</a:t>
            </a: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endParaRPr lang="en-US" sz="16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A/B pilots must verify actual retention impact.</a:t>
            </a:r>
            <a:endParaRPr lang="en-US" sz="1670" dirty="0"/>
          </a:p>
        </p:txBody>
      </p:sp>
      <p:sp>
        <p:nvSpPr>
          <p:cNvPr id="13" name="Shape 11"/>
          <p:cNvSpPr/>
          <p:nvPr/>
        </p:nvSpPr>
        <p:spPr>
          <a:xfrm>
            <a:off x="6419088" y="1783080"/>
            <a:ext cx="5074920" cy="4370832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911096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47688" y="2267712"/>
            <a:ext cx="4590288" cy="649224"/>
          </a:xfrm>
          <a:prstGeom prst="roundRect">
            <a:avLst>
              <a:gd name="adj" fmla="val 11268"/>
            </a:avLst>
          </a:prstGeom>
          <a:solidFill>
            <a:srgbClr val="F7F9F6"/>
          </a:solidFill>
          <a:ln w="8255">
            <a:solidFill>
              <a:srgbClr val="DAE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432304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WHO?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8211312" y="24140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probability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647688" y="3035808"/>
            <a:ext cx="4590288" cy="649224"/>
          </a:xfrm>
          <a:prstGeom prst="roundRect">
            <a:avLst>
              <a:gd name="adj" fmla="val 11268"/>
            </a:avLst>
          </a:prstGeom>
          <a:solidFill>
            <a:srgbClr val="F7F9F6"/>
          </a:solidFill>
          <a:ln w="8255">
            <a:solidFill>
              <a:srgbClr val="DAE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320040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8211312" y="318211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and customer context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647688" y="3803904"/>
            <a:ext cx="4590288" cy="649224"/>
          </a:xfrm>
          <a:prstGeom prst="roundRect">
            <a:avLst>
              <a:gd name="adj" fmla="val 11268"/>
            </a:avLst>
          </a:prstGeom>
          <a:solidFill>
            <a:srgbClr val="F7F9F6"/>
          </a:solidFill>
          <a:ln w="8255">
            <a:solidFill>
              <a:srgbClr val="DAE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3968496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WHAT?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8211312" y="395020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retention offer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6647688" y="4572000"/>
            <a:ext cx="4590288" cy="649224"/>
          </a:xfrm>
          <a:prstGeom prst="roundRect">
            <a:avLst>
              <a:gd name="adj" fmla="val 11268"/>
            </a:avLst>
          </a:prstGeom>
          <a:solidFill>
            <a:srgbClr val="DDEEEB"/>
          </a:solidFill>
          <a:ln w="8255">
            <a:solidFill>
              <a:srgbClr val="DAE4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4736592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IT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8211312" y="47183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campaign results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6684264" y="57058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combine prediction with business judgement.</a:t>
            </a:r>
            <a:endParaRPr lang="en-US" sz="13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58D"/>
          </a:solidFill>
          <a:ln w="8255">
            <a:solidFill>
              <a:srgbClr val="1585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6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METHODS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2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supporting the dataset, neural network and evaluation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01384"/>
            <a:ext cx="11119104" cy="15545"/>
          </a:xfrm>
          <a:prstGeom prst="rect">
            <a:avLst/>
          </a:prstGeom>
          <a:solidFill>
            <a:srgbClr val="D5E2DF"/>
          </a:solidFill>
          <a:ln w="8255">
            <a:solidFill>
              <a:srgbClr val="D5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83680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CHURN  |  BUSINESS ANALYST 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565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1618488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677924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Goreja, A. (n.d.) Stage_2_Deliverables.</a:t>
            </a:r>
            <a:endParaRPr lang="en-US" sz="13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9793224" y="17373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12648" y="2203704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5F9F7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263140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Keras Team (n.d.) Model training APIs.</a:t>
            </a:r>
            <a:endParaRPr lang="en-US" sz="13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9793224" y="232257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2648" y="2788920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848356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Kingma, D.P. and Ba, J. (2015) Adam: A method for stochastic optimization.</a:t>
            </a:r>
            <a:endParaRPr lang="en-US" sz="1300" dirty="0"/>
          </a:p>
        </p:txBody>
      </p:sp>
      <p:sp>
        <p:nvSpPr>
          <p:cNvPr id="18" name="Text 16">
            <a:hlinkClick r:id="rId5"/>
          </p:cNvPr>
          <p:cNvSpPr/>
          <p:nvPr/>
        </p:nvSpPr>
        <p:spPr>
          <a:xfrm>
            <a:off x="9793224" y="290779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12648" y="3374136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5F9F7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433572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Fawcett, T. (2006) An introduction to ROC analysis.</a:t>
            </a:r>
            <a:endParaRPr lang="en-US" sz="1300" dirty="0"/>
          </a:p>
        </p:txBody>
      </p:sp>
      <p:sp>
        <p:nvSpPr>
          <p:cNvPr id="21" name="Text 19">
            <a:hlinkClick r:id="rId6"/>
          </p:cNvPr>
          <p:cNvSpPr/>
          <p:nvPr/>
        </p:nvSpPr>
        <p:spPr>
          <a:xfrm>
            <a:off x="9793224" y="34930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2648" y="3959352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4018788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Pedregosa, F. et al. (2011) Scikit-learn: Machine learning in Python.</a:t>
            </a:r>
            <a:endParaRPr lang="en-US" sz="1300" dirty="0"/>
          </a:p>
        </p:txBody>
      </p:sp>
      <p:sp>
        <p:nvSpPr>
          <p:cNvPr id="24" name="Text 22">
            <a:hlinkClick r:id="rId7"/>
          </p:cNvPr>
          <p:cNvSpPr/>
          <p:nvPr/>
        </p:nvSpPr>
        <p:spPr>
          <a:xfrm>
            <a:off x="9793224" y="407822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12648" y="4544568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5F9F7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604004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Saito, T. and Rehmsmeier, M. (2015) Precision–recall plots.</a:t>
            </a:r>
            <a:endParaRPr lang="en-US" sz="1300" dirty="0"/>
          </a:p>
        </p:txBody>
      </p:sp>
      <p:sp>
        <p:nvSpPr>
          <p:cNvPr id="27" name="Text 25">
            <a:hlinkClick r:id="rId8"/>
          </p:cNvPr>
          <p:cNvSpPr/>
          <p:nvPr/>
        </p:nvSpPr>
        <p:spPr>
          <a:xfrm>
            <a:off x="9793224" y="466344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12648" y="5129784"/>
            <a:ext cx="1096365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8255">
            <a:solidFill>
              <a:srgbClr val="DF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5189220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3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 developers (n.d.) Model evaluation.</a:t>
            </a:r>
            <a:endParaRPr lang="en-US" sz="1300" dirty="0"/>
          </a:p>
        </p:txBody>
      </p:sp>
      <p:sp>
        <p:nvSpPr>
          <p:cNvPr id="30" name="Text 28">
            <a:hlinkClick r:id="rId9"/>
          </p:cNvPr>
          <p:cNvSpPr/>
          <p:nvPr/>
        </p:nvSpPr>
        <p:spPr>
          <a:xfrm>
            <a:off x="9793224" y="524865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u="sng" dirty="0">
                <a:solidFill>
                  <a:srgbClr val="15858D"/>
                </a:solidFill>
                <a:uFill>
                  <a:solidFill>
                    <a:srgbClr val="15858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58952" y="5934456"/>
            <a:ext cx="1089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66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images: user-supplied static Tableau-style screenshots; values checked against clustered customer dataset.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</Words>
  <Application>Microsoft Macintosh PowerPoint</Application>
  <PresentationFormat>Widescreen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| Business Analyst Summary</dc:title>
  <dc:subject>Eight-slide business analyst summary of customer segmentation and predictive churn modelling</dc:subject>
  <dc:creator>Microsoft</dc:creator>
  <cp:lastModifiedBy>AK</cp:lastModifiedBy>
  <cp:revision>1</cp:revision>
  <dcterms:created xsi:type="dcterms:W3CDTF">2026-10-24T16:36:31Z</dcterms:created>
  <dcterms:modified xsi:type="dcterms:W3CDTF">2026-10-25T08:54:13Z</dcterms:modified>
</cp:coreProperties>
</file>